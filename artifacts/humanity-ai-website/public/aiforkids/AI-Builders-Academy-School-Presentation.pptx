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AI Builders Academy is the after-school AI program of Humanity + AI, Inc., a 501(c)(3) nonprofit. This deck is the school-partner overview: what the program is, what students do, what we provide, and what a partnership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exposure is universal, understanding is not. We are a nonprofit — access is the point, not the upsell.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weeks, ninety minutes, capped at twenty. The cap is deliberate — every student needs hands on a keyboard and an instructor within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program identity, three genuinely different curricula. A fifth grader and a junior are not doing scaled versions of the same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Elementary is the on-ramp. Confidence and vocabulary matter more than technical depth at this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 school is where the program shifts from using AI to building with it. Every unit ends in something the student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school is portfolio work. The capstone showcase is also the strongest recruiting event for the next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administrators care about most. The short version: we bring the program, the people and the paperwork. The school brings the room and the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Nonprofit status, real technical background, and clear child-safety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Important for administrators: no money changes hands at the school. Scholarship handling is confidential and on our side. Tuition is a flat $399 for the full six-week program; cohort start dates are set with each school once a partnership is agreed.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on lead time. Eight weeks is the realistic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 thirty-minute meeting. Schedule directly at humanityplusai.org/aiforkids/schools.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B5E"/>
        </a:solidFill>
      </p:bgPr>
    </p:bg>
    <p:spTree>
      <p:nvGrpSpPr>
        <p:cNvPr id="1" name=""/>
        <p:cNvGrpSpPr/>
        <p:nvPr/>
      </p:nvGrpSpPr>
      <p:grpSpPr>
        <a:xfrm>
          <a:off x="0" y="0"/>
          <a:ext cx="0" cy="0"/>
          <a:chOff x="0" y="0"/>
          <a:chExt cx="0" cy="0"/>
        </a:xfrm>
      </p:grpSpPr>
      <p:sp>
        <p:nvSpPr>
          <p:cNvPr id="2" name="Shape 0"/>
          <p:cNvSpPr/>
          <p:nvPr/>
        </p:nvSpPr>
        <p:spPr>
          <a:xfrm>
            <a:off x="8778240" y="-1920240"/>
            <a:ext cx="6035040" cy="6035040"/>
          </a:xfrm>
          <a:prstGeom prst="ellipse">
            <a:avLst/>
          </a:prstGeom>
          <a:solidFill>
            <a:srgbClr val="3B2E8F"/>
          </a:solidFill>
          <a:ln/>
        </p:spPr>
      </p:sp>
      <p:sp>
        <p:nvSpPr>
          <p:cNvPr id="3" name="Shape 1"/>
          <p:cNvSpPr/>
          <p:nvPr/>
        </p:nvSpPr>
        <p:spPr>
          <a:xfrm>
            <a:off x="10332720" y="4023360"/>
            <a:ext cx="3291840" cy="3291840"/>
          </a:xfrm>
          <a:prstGeom prst="ellipse">
            <a:avLst/>
          </a:prstGeom>
          <a:solidFill>
            <a:srgbClr val="00A8B5"/>
          </a:solidFill>
          <a:ln/>
        </p:spPr>
      </p:sp>
      <p:sp>
        <p:nvSpPr>
          <p:cNvPr id="4" name="Text 2"/>
          <p:cNvSpPr/>
          <p:nvPr/>
        </p:nvSpPr>
        <p:spPr>
          <a:xfrm>
            <a:off x="777240" y="1051560"/>
            <a:ext cx="7863840" cy="292608"/>
          </a:xfrm>
          <a:prstGeom prst="rect">
            <a:avLst/>
          </a:prstGeom>
          <a:noFill/>
          <a:ln/>
        </p:spPr>
        <p:txBody>
          <a:bodyPr wrap="square" lIns="0" tIns="0" rIns="0" bIns="0" rtlCol="0" anchor="ctr"/>
          <a:lstStyle/>
          <a:p>
            <a:pPr indent="0" marL="0">
              <a:buNone/>
            </a:pPr>
            <a:r>
              <a:rPr lang="en-US" sz="1300" b="1" spc="300" kern="0" dirty="0">
                <a:solidFill>
                  <a:srgbClr val="00A8B5"/>
                </a:solidFill>
                <a:latin typeface="Calibri" pitchFamily="34" charset="0"/>
                <a:ea typeface="Calibri" pitchFamily="34" charset="-122"/>
                <a:cs typeface="Calibri" pitchFamily="34" charset="-120"/>
              </a:rPr>
              <a:t>HUMANITY + AI, INC.  ·  501(c)(3) NONPROFIT</a:t>
            </a:r>
            <a:endParaRPr lang="en-US" sz="1300" dirty="0"/>
          </a:p>
        </p:txBody>
      </p:sp>
      <p:sp>
        <p:nvSpPr>
          <p:cNvPr id="5" name="Text 3"/>
          <p:cNvSpPr/>
          <p:nvPr/>
        </p:nvSpPr>
        <p:spPr>
          <a:xfrm>
            <a:off x="731520" y="1481328"/>
            <a:ext cx="8046720" cy="1920240"/>
          </a:xfrm>
          <a:prstGeom prst="rect">
            <a:avLst/>
          </a:prstGeom>
          <a:noFill/>
          <a:ln/>
        </p:spPr>
        <p:txBody>
          <a:bodyPr wrap="square" lIns="0" tIns="0" rIns="0" bIns="0" rtlCol="0" anchor="ctr"/>
          <a:lstStyle/>
          <a:p>
            <a:pPr indent="0" marL="0">
              <a:lnSpc>
                <a:spcPts val="6000"/>
              </a:lnSpc>
              <a:buNone/>
            </a:pPr>
            <a:r>
              <a:rPr lang="en-US" sz="6000" b="1" dirty="0">
                <a:solidFill>
                  <a:srgbClr val="FFFFFF"/>
                </a:solidFill>
                <a:latin typeface="Cambria" pitchFamily="34" charset="0"/>
                <a:ea typeface="Cambria" pitchFamily="34" charset="-122"/>
                <a:cs typeface="Cambria" pitchFamily="34" charset="-120"/>
              </a:rPr>
              <a:t>AI Builders</a:t>
            </a:r>
            <a:endParaRPr lang="en-US" sz="6000" dirty="0"/>
          </a:p>
          <a:p>
            <a:pPr indent="0" marL="0">
              <a:lnSpc>
                <a:spcPts val="6000"/>
              </a:lnSpc>
              <a:buNone/>
            </a:pPr>
            <a:r>
              <a:rPr lang="en-US" sz="6000" b="1" dirty="0">
                <a:solidFill>
                  <a:srgbClr val="FFFFFF"/>
                </a:solidFill>
                <a:latin typeface="Cambria" pitchFamily="34" charset="0"/>
                <a:ea typeface="Cambria" pitchFamily="34" charset="-122"/>
                <a:cs typeface="Cambria" pitchFamily="34" charset="-120"/>
              </a:rPr>
              <a:t>Academy</a:t>
            </a:r>
            <a:endParaRPr lang="en-US" sz="6000" dirty="0"/>
          </a:p>
        </p:txBody>
      </p:sp>
      <p:sp>
        <p:nvSpPr>
          <p:cNvPr id="6" name="Text 4"/>
          <p:cNvSpPr/>
          <p:nvPr/>
        </p:nvSpPr>
        <p:spPr>
          <a:xfrm>
            <a:off x="777240" y="3520440"/>
            <a:ext cx="7680960" cy="411480"/>
          </a:xfrm>
          <a:prstGeom prst="rect">
            <a:avLst/>
          </a:prstGeom>
          <a:noFill/>
          <a:ln/>
        </p:spPr>
        <p:txBody>
          <a:bodyPr wrap="square" lIns="0" tIns="0" rIns="0" bIns="0" rtlCol="0" anchor="ctr"/>
          <a:lstStyle/>
          <a:p>
            <a:pPr indent="0" marL="0">
              <a:buNone/>
            </a:pPr>
            <a:r>
              <a:rPr lang="en-US" sz="1900" dirty="0">
                <a:solidFill>
                  <a:srgbClr val="C9CCEA"/>
                </a:solidFill>
                <a:latin typeface="Calibri" pitchFamily="34" charset="0"/>
                <a:ea typeface="Calibri" pitchFamily="34" charset="-122"/>
                <a:cs typeface="Calibri" pitchFamily="34" charset="-120"/>
              </a:rPr>
              <a:t>After-school artificial intelligence program for grades 3–12</a:t>
            </a:r>
            <a:endParaRPr lang="en-US" sz="1900" dirty="0"/>
          </a:p>
        </p:txBody>
      </p:sp>
      <p:sp>
        <p:nvSpPr>
          <p:cNvPr id="7" name="Shape 5"/>
          <p:cNvSpPr/>
          <p:nvPr/>
        </p:nvSpPr>
        <p:spPr>
          <a:xfrm>
            <a:off x="777240" y="4160520"/>
            <a:ext cx="4892040" cy="566928"/>
          </a:xfrm>
          <a:prstGeom prst="roundRect">
            <a:avLst>
              <a:gd name="adj" fmla="val 50000"/>
            </a:avLst>
          </a:prstGeom>
          <a:solidFill>
            <a:srgbClr val="FF7A29"/>
          </a:solidFill>
          <a:ln w="12700">
            <a:solidFill>
              <a:srgbClr val="FF7A29"/>
            </a:solidFill>
            <a:prstDash val="solid"/>
          </a:ln>
        </p:spPr>
      </p:sp>
      <p:sp>
        <p:nvSpPr>
          <p:cNvPr id="8" name="Text 6"/>
          <p:cNvSpPr/>
          <p:nvPr/>
        </p:nvSpPr>
        <p:spPr>
          <a:xfrm>
            <a:off x="777240" y="4160520"/>
            <a:ext cx="4892040"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Students learn to build with AI — not just use it.</a:t>
            </a:r>
            <a:endParaRPr lang="en-US" sz="1350" dirty="0"/>
          </a:p>
        </p:txBody>
      </p:sp>
      <p:sp>
        <p:nvSpPr>
          <p:cNvPr id="9" name="Text 7"/>
          <p:cNvSpPr/>
          <p:nvPr/>
        </p:nvSpPr>
        <p:spPr>
          <a:xfrm>
            <a:off x="777240" y="5257800"/>
            <a:ext cx="4572000" cy="274320"/>
          </a:xfrm>
          <a:prstGeom prst="rect">
            <a:avLst/>
          </a:prstGeom>
          <a:noFill/>
          <a:ln/>
        </p:spPr>
        <p:txBody>
          <a:bodyPr wrap="square" lIns="0" tIns="0" rIns="0" bIns="0" rtlCol="0" anchor="ctr"/>
          <a:lstStyle/>
          <a:p>
            <a:pPr indent="0" marL="0">
              <a:buNone/>
            </a:pPr>
            <a:r>
              <a:rPr lang="en-US" sz="1200" b="1" spc="200" kern="0" dirty="0">
                <a:solidFill>
                  <a:srgbClr val="00A8B5"/>
                </a:solidFill>
                <a:latin typeface="Calibri" pitchFamily="34" charset="0"/>
                <a:ea typeface="Calibri" pitchFamily="34" charset="-122"/>
                <a:cs typeface="Calibri" pitchFamily="34" charset="-120"/>
              </a:rPr>
              <a:t>School partnership overview</a:t>
            </a:r>
            <a:endParaRPr lang="en-US" sz="1200" dirty="0"/>
          </a:p>
        </p:txBody>
      </p:sp>
      <p:sp>
        <p:nvSpPr>
          <p:cNvPr id="10" name="Text 8"/>
          <p:cNvSpPr/>
          <p:nvPr/>
        </p:nvSpPr>
        <p:spPr>
          <a:xfrm>
            <a:off x="777240" y="5559552"/>
            <a:ext cx="640080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Launching Fall 2026  ·  Pinellas County, Florida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50" kern="0" dirty="0">
                <a:solidFill>
                  <a:srgbClr val="00A8B5"/>
                </a:solidFill>
                <a:latin typeface="Calibri" pitchFamily="34" charset="0"/>
                <a:ea typeface="Calibri" pitchFamily="34" charset="-122"/>
                <a:cs typeface="Calibri" pitchFamily="34" charset="-120"/>
              </a:rPr>
              <a:t>THE CASE FOR AI LITERACY</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Why this program, why now</a:t>
            </a:r>
            <a:endParaRPr lang="en-US" sz="3800" dirty="0"/>
          </a:p>
        </p:txBody>
      </p:sp>
      <p:sp>
        <p:nvSpPr>
          <p:cNvPr id="4" name="Shape 2"/>
          <p:cNvSpPr/>
          <p:nvPr/>
        </p:nvSpPr>
        <p:spPr>
          <a:xfrm>
            <a:off x="640080" y="1691640"/>
            <a:ext cx="3453414" cy="2880360"/>
          </a:xfrm>
          <a:prstGeom prst="roundRect">
            <a:avLst>
              <a:gd name="adj" fmla="val 3810"/>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5" name="Shape 3"/>
          <p:cNvSpPr/>
          <p:nvPr/>
        </p:nvSpPr>
        <p:spPr>
          <a:xfrm>
            <a:off x="932688" y="1993392"/>
            <a:ext cx="658368" cy="658368"/>
          </a:xfrm>
          <a:prstGeom prst="ellipse">
            <a:avLst/>
          </a:prstGeom>
          <a:solidFill>
            <a:srgbClr val="3B2E8F"/>
          </a:solidFill>
          <a:ln/>
        </p:spPr>
      </p:sp>
      <p:pic>
        <p:nvPicPr>
          <p:cNvPr id="6" name="Image 0" descr="preencoded.png">    </p:cNvPr>
          <p:cNvPicPr>
            <a:picLocks noChangeAspect="1"/>
          </p:cNvPicPr>
          <p:nvPr/>
        </p:nvPicPr>
        <p:blipFill>
          <a:blip r:embed="rId1"/>
          <a:stretch>
            <a:fillRect/>
          </a:stretch>
        </p:blipFill>
        <p:spPr>
          <a:xfrm>
            <a:off x="1103864" y="2164568"/>
            <a:ext cx="316017" cy="316017"/>
          </a:xfrm>
          <a:prstGeom prst="rect">
            <a:avLst/>
          </a:prstGeom>
        </p:spPr>
      </p:pic>
      <p:sp>
        <p:nvSpPr>
          <p:cNvPr id="7" name="Text 4"/>
          <p:cNvSpPr/>
          <p:nvPr/>
        </p:nvSpPr>
        <p:spPr>
          <a:xfrm>
            <a:off x="932688" y="2816352"/>
            <a:ext cx="2834640" cy="365760"/>
          </a:xfrm>
          <a:prstGeom prst="rect">
            <a:avLst/>
          </a:prstGeom>
          <a:noFill/>
          <a:ln/>
        </p:spPr>
        <p:txBody>
          <a:bodyPr wrap="square" lIns="0" tIns="0" rIns="0" bIns="0" rtlCol="0" anchor="ctr"/>
          <a:lstStyle/>
          <a:p>
            <a:pPr indent="0" marL="0">
              <a:buNone/>
            </a:pPr>
            <a:r>
              <a:rPr lang="en-US" sz="2100" b="1" dirty="0">
                <a:solidFill>
                  <a:srgbClr val="141438"/>
                </a:solidFill>
                <a:latin typeface="Cambria" pitchFamily="34" charset="0"/>
                <a:ea typeface="Cambria" pitchFamily="34" charset="-122"/>
                <a:cs typeface="Cambria" pitchFamily="34" charset="-120"/>
              </a:rPr>
              <a:t>Every career</a:t>
            </a:r>
            <a:endParaRPr lang="en-US" sz="2100" dirty="0"/>
          </a:p>
        </p:txBody>
      </p:sp>
      <p:sp>
        <p:nvSpPr>
          <p:cNvPr id="8" name="Text 5"/>
          <p:cNvSpPr/>
          <p:nvPr/>
        </p:nvSpPr>
        <p:spPr>
          <a:xfrm>
            <a:off x="932688" y="3246120"/>
            <a:ext cx="2880360" cy="1188720"/>
          </a:xfrm>
          <a:prstGeom prst="rect">
            <a:avLst/>
          </a:prstGeom>
          <a:noFill/>
          <a:ln/>
        </p:spPr>
        <p:txBody>
          <a:bodyPr wrap="square" lIns="0" tIns="0" rIns="0" bIns="0" rtlCol="0" anchor="ctr"/>
          <a:lstStyle/>
          <a:p>
            <a:pPr indent="0" marL="0">
              <a:lnSpc>
                <a:spcPts val="1800"/>
              </a:lnSpc>
              <a:buNone/>
            </a:pPr>
            <a:r>
              <a:rPr lang="en-US" sz="1300" dirty="0">
                <a:solidFill>
                  <a:srgbClr val="5B5B7A"/>
                </a:solidFill>
                <a:latin typeface="Calibri" pitchFamily="34" charset="0"/>
                <a:ea typeface="Calibri" pitchFamily="34" charset="-122"/>
                <a:cs typeface="Calibri" pitchFamily="34" charset="-120"/>
              </a:rPr>
              <a:t>The students in your building will enter a workforce where AI is a default tool, not a specialty.</a:t>
            </a:r>
            <a:endParaRPr lang="en-US" sz="1300" dirty="0"/>
          </a:p>
        </p:txBody>
      </p:sp>
      <p:sp>
        <p:nvSpPr>
          <p:cNvPr id="9" name="Shape 6"/>
          <p:cNvSpPr/>
          <p:nvPr/>
        </p:nvSpPr>
        <p:spPr>
          <a:xfrm>
            <a:off x="4367814" y="1691640"/>
            <a:ext cx="3453414" cy="2880360"/>
          </a:xfrm>
          <a:prstGeom prst="roundRect">
            <a:avLst>
              <a:gd name="adj" fmla="val 3810"/>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0" name="Shape 7"/>
          <p:cNvSpPr/>
          <p:nvPr/>
        </p:nvSpPr>
        <p:spPr>
          <a:xfrm>
            <a:off x="4660422" y="1993392"/>
            <a:ext cx="658368" cy="658368"/>
          </a:xfrm>
          <a:prstGeom prst="ellipse">
            <a:avLst/>
          </a:prstGeom>
          <a:solidFill>
            <a:srgbClr val="00A8B5"/>
          </a:solidFill>
          <a:ln/>
        </p:spPr>
      </p:sp>
      <p:pic>
        <p:nvPicPr>
          <p:cNvPr id="11" name="Image 1" descr="preencoded.png">    </p:cNvPr>
          <p:cNvPicPr>
            <a:picLocks noChangeAspect="1"/>
          </p:cNvPicPr>
          <p:nvPr/>
        </p:nvPicPr>
        <p:blipFill>
          <a:blip r:embed="rId2"/>
          <a:stretch>
            <a:fillRect/>
          </a:stretch>
        </p:blipFill>
        <p:spPr>
          <a:xfrm>
            <a:off x="4831598" y="2164568"/>
            <a:ext cx="316017" cy="316017"/>
          </a:xfrm>
          <a:prstGeom prst="rect">
            <a:avLst/>
          </a:prstGeom>
        </p:spPr>
      </p:pic>
      <p:sp>
        <p:nvSpPr>
          <p:cNvPr id="12" name="Text 8"/>
          <p:cNvSpPr/>
          <p:nvPr/>
        </p:nvSpPr>
        <p:spPr>
          <a:xfrm>
            <a:off x="4660422" y="2816352"/>
            <a:ext cx="2834640" cy="365760"/>
          </a:xfrm>
          <a:prstGeom prst="rect">
            <a:avLst/>
          </a:prstGeom>
          <a:noFill/>
          <a:ln/>
        </p:spPr>
        <p:txBody>
          <a:bodyPr wrap="square" lIns="0" tIns="0" rIns="0" bIns="0" rtlCol="0" anchor="ctr"/>
          <a:lstStyle/>
          <a:p>
            <a:pPr indent="0" marL="0">
              <a:buNone/>
            </a:pPr>
            <a:r>
              <a:rPr lang="en-US" sz="2100" b="1" dirty="0">
                <a:solidFill>
                  <a:srgbClr val="141438"/>
                </a:solidFill>
                <a:latin typeface="Cambria" pitchFamily="34" charset="0"/>
                <a:ea typeface="Cambria" pitchFamily="34" charset="-122"/>
                <a:cs typeface="Cambria" pitchFamily="34" charset="-120"/>
              </a:rPr>
              <a:t>Very few schools</a:t>
            </a:r>
            <a:endParaRPr lang="en-US" sz="2100" dirty="0"/>
          </a:p>
        </p:txBody>
      </p:sp>
      <p:sp>
        <p:nvSpPr>
          <p:cNvPr id="13" name="Text 9"/>
          <p:cNvSpPr/>
          <p:nvPr/>
        </p:nvSpPr>
        <p:spPr>
          <a:xfrm>
            <a:off x="4660422" y="3246120"/>
            <a:ext cx="2880360" cy="1188720"/>
          </a:xfrm>
          <a:prstGeom prst="rect">
            <a:avLst/>
          </a:prstGeom>
          <a:noFill/>
          <a:ln/>
        </p:spPr>
        <p:txBody>
          <a:bodyPr wrap="square" lIns="0" tIns="0" rIns="0" bIns="0" rtlCol="0" anchor="ctr"/>
          <a:lstStyle/>
          <a:p>
            <a:pPr indent="0" marL="0">
              <a:lnSpc>
                <a:spcPts val="1800"/>
              </a:lnSpc>
              <a:buNone/>
            </a:pPr>
            <a:r>
              <a:rPr lang="en-US" sz="1300" dirty="0">
                <a:solidFill>
                  <a:srgbClr val="5B5B7A"/>
                </a:solidFill>
                <a:latin typeface="Calibri" pitchFamily="34" charset="0"/>
                <a:ea typeface="Calibri" pitchFamily="34" charset="-122"/>
                <a:cs typeface="Calibri" pitchFamily="34" charset="-120"/>
              </a:rPr>
              <a:t>Structured, age-appropriate AI instruction is still rare — especially outside of magnet and private programs.</a:t>
            </a:r>
            <a:endParaRPr lang="en-US" sz="1300" dirty="0"/>
          </a:p>
        </p:txBody>
      </p:sp>
      <p:sp>
        <p:nvSpPr>
          <p:cNvPr id="14" name="Shape 10"/>
          <p:cNvSpPr/>
          <p:nvPr/>
        </p:nvSpPr>
        <p:spPr>
          <a:xfrm>
            <a:off x="8095549" y="1691640"/>
            <a:ext cx="3453414" cy="2880360"/>
          </a:xfrm>
          <a:prstGeom prst="roundRect">
            <a:avLst>
              <a:gd name="adj" fmla="val 3810"/>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5" name="Shape 11"/>
          <p:cNvSpPr/>
          <p:nvPr/>
        </p:nvSpPr>
        <p:spPr>
          <a:xfrm>
            <a:off x="8388157" y="1993392"/>
            <a:ext cx="658368" cy="658368"/>
          </a:xfrm>
          <a:prstGeom prst="ellipse">
            <a:avLst/>
          </a:prstGeom>
          <a:solidFill>
            <a:srgbClr val="FF7A29"/>
          </a:solidFill>
          <a:ln/>
        </p:spPr>
      </p:sp>
      <p:pic>
        <p:nvPicPr>
          <p:cNvPr id="16" name="Image 2" descr="preencoded.png">    </p:cNvPr>
          <p:cNvPicPr>
            <a:picLocks noChangeAspect="1"/>
          </p:cNvPicPr>
          <p:nvPr/>
        </p:nvPicPr>
        <p:blipFill>
          <a:blip r:embed="rId3"/>
          <a:stretch>
            <a:fillRect/>
          </a:stretch>
        </p:blipFill>
        <p:spPr>
          <a:xfrm>
            <a:off x="8559333" y="2164568"/>
            <a:ext cx="316017" cy="316017"/>
          </a:xfrm>
          <a:prstGeom prst="rect">
            <a:avLst/>
          </a:prstGeom>
        </p:spPr>
      </p:pic>
      <p:sp>
        <p:nvSpPr>
          <p:cNvPr id="17" name="Text 12"/>
          <p:cNvSpPr/>
          <p:nvPr/>
        </p:nvSpPr>
        <p:spPr>
          <a:xfrm>
            <a:off x="8388157" y="2816352"/>
            <a:ext cx="2834640" cy="365760"/>
          </a:xfrm>
          <a:prstGeom prst="rect">
            <a:avLst/>
          </a:prstGeom>
          <a:noFill/>
          <a:ln/>
        </p:spPr>
        <p:txBody>
          <a:bodyPr wrap="square" lIns="0" tIns="0" rIns="0" bIns="0" rtlCol="0" anchor="ctr"/>
          <a:lstStyle/>
          <a:p>
            <a:pPr indent="0" marL="0">
              <a:buNone/>
            </a:pPr>
            <a:r>
              <a:rPr lang="en-US" sz="2100" b="1" dirty="0">
                <a:solidFill>
                  <a:srgbClr val="141438"/>
                </a:solidFill>
                <a:latin typeface="Cambria" pitchFamily="34" charset="0"/>
                <a:ea typeface="Cambria" pitchFamily="34" charset="-122"/>
                <a:cs typeface="Cambria" pitchFamily="34" charset="-120"/>
              </a:rPr>
              <a:t>Use vs. build</a:t>
            </a:r>
            <a:endParaRPr lang="en-US" sz="2100" dirty="0"/>
          </a:p>
        </p:txBody>
      </p:sp>
      <p:sp>
        <p:nvSpPr>
          <p:cNvPr id="18" name="Text 13"/>
          <p:cNvSpPr/>
          <p:nvPr/>
        </p:nvSpPr>
        <p:spPr>
          <a:xfrm>
            <a:off x="8388157" y="3246120"/>
            <a:ext cx="2880360" cy="1188720"/>
          </a:xfrm>
          <a:prstGeom prst="rect">
            <a:avLst/>
          </a:prstGeom>
          <a:noFill/>
          <a:ln/>
        </p:spPr>
        <p:txBody>
          <a:bodyPr wrap="square" lIns="0" tIns="0" rIns="0" bIns="0" rtlCol="0" anchor="ctr"/>
          <a:lstStyle/>
          <a:p>
            <a:pPr indent="0" marL="0">
              <a:lnSpc>
                <a:spcPts val="1800"/>
              </a:lnSpc>
              <a:buNone/>
            </a:pPr>
            <a:r>
              <a:rPr lang="en-US" sz="1300" dirty="0">
                <a:solidFill>
                  <a:srgbClr val="5B5B7A"/>
                </a:solidFill>
                <a:latin typeface="Calibri" pitchFamily="34" charset="0"/>
                <a:ea typeface="Calibri" pitchFamily="34" charset="-122"/>
                <a:cs typeface="Calibri" pitchFamily="34" charset="-120"/>
              </a:rPr>
              <a:t>Most kids already use AI. Almost none understand how it works, where it fails, or how to build with it.</a:t>
            </a:r>
            <a:endParaRPr lang="en-US" sz="1300" dirty="0"/>
          </a:p>
        </p:txBody>
      </p:sp>
      <p:sp>
        <p:nvSpPr>
          <p:cNvPr id="19" name="Shape 14"/>
          <p:cNvSpPr/>
          <p:nvPr/>
        </p:nvSpPr>
        <p:spPr>
          <a:xfrm>
            <a:off x="640080" y="4892040"/>
            <a:ext cx="10908792" cy="1143000"/>
          </a:xfrm>
          <a:prstGeom prst="roundRect">
            <a:avLst>
              <a:gd name="adj" fmla="val 9600"/>
            </a:avLst>
          </a:prstGeom>
          <a:solidFill>
            <a:srgbClr val="241B5E"/>
          </a:solidFill>
          <a:ln w="12700">
            <a:solidFill>
              <a:srgbClr val="241B5E"/>
            </a:solidFill>
            <a:prstDash val="solid"/>
          </a:ln>
        </p:spPr>
      </p:sp>
      <p:sp>
        <p:nvSpPr>
          <p:cNvPr id="20" name="Text 15"/>
          <p:cNvSpPr/>
          <p:nvPr/>
        </p:nvSpPr>
        <p:spPr>
          <a:xfrm>
            <a:off x="1005840" y="4892040"/>
            <a:ext cx="10149840" cy="1143000"/>
          </a:xfrm>
          <a:prstGeom prst="rect">
            <a:avLst/>
          </a:prstGeom>
          <a:noFill/>
          <a:ln/>
        </p:spPr>
        <p:txBody>
          <a:bodyPr wrap="square" lIns="0" tIns="0" rIns="0" bIns="0" rtlCol="0" anchor="ctr"/>
          <a:lstStyle/>
          <a:p>
            <a:pPr indent="0" marL="0">
              <a:buNone/>
            </a:pPr>
            <a:r>
              <a:rPr lang="en-US" sz="1900" i="1" dirty="0">
                <a:solidFill>
                  <a:srgbClr val="FFFFFF"/>
                </a:solidFill>
                <a:latin typeface="Cambria" pitchFamily="34" charset="0"/>
                <a:ea typeface="Cambria" pitchFamily="34" charset="-122"/>
                <a:cs typeface="Cambria" pitchFamily="34" charset="-120"/>
              </a:rPr>
              <a:t>Our mission is to make artificial intelligence accessible to everyone — starting with the students who will inherit it.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50" kern="0" dirty="0">
                <a:solidFill>
                  <a:srgbClr val="00A8B5"/>
                </a:solidFill>
                <a:latin typeface="Calibri" pitchFamily="34" charset="0"/>
                <a:ea typeface="Calibri" pitchFamily="34" charset="-122"/>
                <a:cs typeface="Calibri" pitchFamily="34" charset="-120"/>
              </a:rPr>
              <a:t>PROGRAM STRUCTURE</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The program at a glance</a:t>
            </a:r>
            <a:endParaRPr lang="en-US" sz="3800" dirty="0"/>
          </a:p>
        </p:txBody>
      </p:sp>
      <p:sp>
        <p:nvSpPr>
          <p:cNvPr id="4" name="Shape 2"/>
          <p:cNvSpPr/>
          <p:nvPr/>
        </p:nvSpPr>
        <p:spPr>
          <a:xfrm>
            <a:off x="640080" y="1737360"/>
            <a:ext cx="2521458" cy="1938528"/>
          </a:xfrm>
          <a:prstGeom prst="roundRect">
            <a:avLst>
              <a:gd name="adj" fmla="val 5660"/>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5" name="Text 3"/>
          <p:cNvSpPr/>
          <p:nvPr/>
        </p:nvSpPr>
        <p:spPr>
          <a:xfrm>
            <a:off x="868680" y="1938528"/>
            <a:ext cx="2103120" cy="868680"/>
          </a:xfrm>
          <a:prstGeom prst="rect">
            <a:avLst/>
          </a:prstGeom>
          <a:noFill/>
          <a:ln/>
        </p:spPr>
        <p:txBody>
          <a:bodyPr wrap="square" lIns="0" tIns="0" rIns="0" bIns="0" rtlCol="0" anchor="ctr"/>
          <a:lstStyle/>
          <a:p>
            <a:pPr indent="0" marL="0">
              <a:buNone/>
            </a:pPr>
            <a:r>
              <a:rPr lang="en-US" sz="5400" b="1" dirty="0">
                <a:solidFill>
                  <a:srgbClr val="3B2E8F"/>
                </a:solidFill>
                <a:latin typeface="Cambria" pitchFamily="34" charset="0"/>
                <a:ea typeface="Cambria" pitchFamily="34" charset="-122"/>
                <a:cs typeface="Cambria" pitchFamily="34" charset="-120"/>
              </a:rPr>
              <a:t>6</a:t>
            </a:r>
            <a:endParaRPr lang="en-US" sz="5400" dirty="0"/>
          </a:p>
        </p:txBody>
      </p:sp>
      <p:sp>
        <p:nvSpPr>
          <p:cNvPr id="6" name="Text 4"/>
          <p:cNvSpPr/>
          <p:nvPr/>
        </p:nvSpPr>
        <p:spPr>
          <a:xfrm>
            <a:off x="896112" y="2880360"/>
            <a:ext cx="2103120" cy="822960"/>
          </a:xfrm>
          <a:prstGeom prst="rect">
            <a:avLst/>
          </a:prstGeom>
          <a:noFill/>
          <a:ln/>
        </p:spPr>
        <p:txBody>
          <a:bodyPr wrap="square" lIns="0" tIns="0" rIns="0" bIns="0" rtlCol="0" anchor="t"/>
          <a:lstStyle/>
          <a:p>
            <a:pPr indent="0" marL="0">
              <a:lnSpc>
                <a:spcPts val="1800"/>
              </a:lnSpc>
              <a:buNone/>
            </a:pPr>
            <a:r>
              <a:rPr lang="en-US" sz="1350" dirty="0">
                <a:solidFill>
                  <a:srgbClr val="5B5B7A"/>
                </a:solidFill>
                <a:latin typeface="Calibri" pitchFamily="34" charset="0"/>
                <a:ea typeface="Calibri" pitchFamily="34" charset="-122"/>
                <a:cs typeface="Calibri" pitchFamily="34" charset="-120"/>
              </a:rPr>
              <a:t>Weeks per</a:t>
            </a:r>
            <a:endParaRPr lang="en-US" sz="1350" dirty="0"/>
          </a:p>
          <a:p>
            <a:pPr indent="0" marL="0">
              <a:lnSpc>
                <a:spcPts val="1800"/>
              </a:lnSpc>
              <a:buNone/>
            </a:pPr>
            <a:r>
              <a:rPr lang="en-US" sz="1350" dirty="0">
                <a:solidFill>
                  <a:srgbClr val="5B5B7A"/>
                </a:solidFill>
                <a:latin typeface="Calibri" pitchFamily="34" charset="0"/>
                <a:ea typeface="Calibri" pitchFamily="34" charset="-122"/>
                <a:cs typeface="Calibri" pitchFamily="34" charset="-120"/>
              </a:rPr>
              <a:t>cohort</a:t>
            </a:r>
            <a:endParaRPr lang="en-US" sz="1350" dirty="0"/>
          </a:p>
        </p:txBody>
      </p:sp>
      <p:sp>
        <p:nvSpPr>
          <p:cNvPr id="7" name="Shape 5"/>
          <p:cNvSpPr/>
          <p:nvPr/>
        </p:nvSpPr>
        <p:spPr>
          <a:xfrm>
            <a:off x="3435858" y="1737360"/>
            <a:ext cx="2521458" cy="1938528"/>
          </a:xfrm>
          <a:prstGeom prst="roundRect">
            <a:avLst>
              <a:gd name="adj" fmla="val 5660"/>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8" name="Text 6"/>
          <p:cNvSpPr/>
          <p:nvPr/>
        </p:nvSpPr>
        <p:spPr>
          <a:xfrm>
            <a:off x="3664458" y="1938528"/>
            <a:ext cx="2103120" cy="868680"/>
          </a:xfrm>
          <a:prstGeom prst="rect">
            <a:avLst/>
          </a:prstGeom>
          <a:noFill/>
          <a:ln/>
        </p:spPr>
        <p:txBody>
          <a:bodyPr wrap="square" lIns="0" tIns="0" rIns="0" bIns="0" rtlCol="0" anchor="ctr"/>
          <a:lstStyle/>
          <a:p>
            <a:pPr indent="0" marL="0">
              <a:buNone/>
            </a:pPr>
            <a:r>
              <a:rPr lang="en-US" sz="5400" b="1" dirty="0">
                <a:solidFill>
                  <a:srgbClr val="3B2E8F"/>
                </a:solidFill>
                <a:latin typeface="Cambria" pitchFamily="34" charset="0"/>
                <a:ea typeface="Cambria" pitchFamily="34" charset="-122"/>
                <a:cs typeface="Cambria" pitchFamily="34" charset="-120"/>
              </a:rPr>
              <a:t>1</a:t>
            </a:r>
            <a:endParaRPr lang="en-US" sz="5400" dirty="0"/>
          </a:p>
        </p:txBody>
      </p:sp>
      <p:sp>
        <p:nvSpPr>
          <p:cNvPr id="9" name="Text 7"/>
          <p:cNvSpPr/>
          <p:nvPr/>
        </p:nvSpPr>
        <p:spPr>
          <a:xfrm>
            <a:off x="3691890" y="2880360"/>
            <a:ext cx="2103120" cy="822960"/>
          </a:xfrm>
          <a:prstGeom prst="rect">
            <a:avLst/>
          </a:prstGeom>
          <a:noFill/>
          <a:ln/>
        </p:spPr>
        <p:txBody>
          <a:bodyPr wrap="square" lIns="0" tIns="0" rIns="0" bIns="0" rtlCol="0" anchor="t"/>
          <a:lstStyle/>
          <a:p>
            <a:pPr indent="0" marL="0">
              <a:lnSpc>
                <a:spcPts val="1800"/>
              </a:lnSpc>
              <a:buNone/>
            </a:pPr>
            <a:r>
              <a:rPr lang="en-US" sz="1350" dirty="0">
                <a:solidFill>
                  <a:srgbClr val="5B5B7A"/>
                </a:solidFill>
                <a:latin typeface="Calibri" pitchFamily="34" charset="0"/>
                <a:ea typeface="Calibri" pitchFamily="34" charset="-122"/>
                <a:cs typeface="Calibri" pitchFamily="34" charset="-120"/>
              </a:rPr>
              <a:t>Class per week</a:t>
            </a:r>
            <a:endParaRPr lang="en-US" sz="1350" dirty="0"/>
          </a:p>
          <a:p>
            <a:pPr indent="0" marL="0">
              <a:lnSpc>
                <a:spcPts val="1800"/>
              </a:lnSpc>
              <a:buNone/>
            </a:pPr>
            <a:r>
              <a:rPr lang="en-US" sz="1350" dirty="0">
                <a:solidFill>
                  <a:srgbClr val="5B5B7A"/>
                </a:solidFill>
                <a:latin typeface="Calibri" pitchFamily="34" charset="0"/>
                <a:ea typeface="Calibri" pitchFamily="34" charset="-122"/>
                <a:cs typeface="Calibri" pitchFamily="34" charset="-120"/>
              </a:rPr>
              <a:t>90 minutes</a:t>
            </a:r>
            <a:endParaRPr lang="en-US" sz="1350" dirty="0"/>
          </a:p>
        </p:txBody>
      </p:sp>
      <p:sp>
        <p:nvSpPr>
          <p:cNvPr id="10" name="Shape 8"/>
          <p:cNvSpPr/>
          <p:nvPr/>
        </p:nvSpPr>
        <p:spPr>
          <a:xfrm>
            <a:off x="6231636" y="1737360"/>
            <a:ext cx="2521458" cy="1938528"/>
          </a:xfrm>
          <a:prstGeom prst="roundRect">
            <a:avLst>
              <a:gd name="adj" fmla="val 5660"/>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1" name="Text 9"/>
          <p:cNvSpPr/>
          <p:nvPr/>
        </p:nvSpPr>
        <p:spPr>
          <a:xfrm>
            <a:off x="6460236" y="1938528"/>
            <a:ext cx="2103120" cy="868680"/>
          </a:xfrm>
          <a:prstGeom prst="rect">
            <a:avLst/>
          </a:prstGeom>
          <a:noFill/>
          <a:ln/>
        </p:spPr>
        <p:txBody>
          <a:bodyPr wrap="square" lIns="0" tIns="0" rIns="0" bIns="0" rtlCol="0" anchor="ctr"/>
          <a:lstStyle/>
          <a:p>
            <a:pPr indent="0" marL="0">
              <a:buNone/>
            </a:pPr>
            <a:r>
              <a:rPr lang="en-US" sz="5400" b="1" dirty="0">
                <a:solidFill>
                  <a:srgbClr val="3B2E8F"/>
                </a:solidFill>
                <a:latin typeface="Cambria" pitchFamily="34" charset="0"/>
                <a:ea typeface="Cambria" pitchFamily="34" charset="-122"/>
                <a:cs typeface="Cambria" pitchFamily="34" charset="-120"/>
              </a:rPr>
              <a:t>20</a:t>
            </a:r>
            <a:endParaRPr lang="en-US" sz="5400" dirty="0"/>
          </a:p>
        </p:txBody>
      </p:sp>
      <p:sp>
        <p:nvSpPr>
          <p:cNvPr id="12" name="Text 10"/>
          <p:cNvSpPr/>
          <p:nvPr/>
        </p:nvSpPr>
        <p:spPr>
          <a:xfrm>
            <a:off x="6487668" y="2880360"/>
            <a:ext cx="2103120" cy="822960"/>
          </a:xfrm>
          <a:prstGeom prst="rect">
            <a:avLst/>
          </a:prstGeom>
          <a:noFill/>
          <a:ln/>
        </p:spPr>
        <p:txBody>
          <a:bodyPr wrap="square" lIns="0" tIns="0" rIns="0" bIns="0" rtlCol="0" anchor="t"/>
          <a:lstStyle/>
          <a:p>
            <a:pPr indent="0" marL="0">
              <a:lnSpc>
                <a:spcPts val="1800"/>
              </a:lnSpc>
              <a:buNone/>
            </a:pPr>
            <a:r>
              <a:rPr lang="en-US" sz="1350" dirty="0">
                <a:solidFill>
                  <a:srgbClr val="5B5B7A"/>
                </a:solidFill>
                <a:latin typeface="Calibri" pitchFamily="34" charset="0"/>
                <a:ea typeface="Calibri" pitchFamily="34" charset="-122"/>
                <a:cs typeface="Calibri" pitchFamily="34" charset="-120"/>
              </a:rPr>
              <a:t>Students maximum</a:t>
            </a:r>
            <a:endParaRPr lang="en-US" sz="1350" dirty="0"/>
          </a:p>
          <a:p>
            <a:pPr indent="0" marL="0">
              <a:lnSpc>
                <a:spcPts val="1800"/>
              </a:lnSpc>
              <a:buNone/>
            </a:pPr>
            <a:r>
              <a:rPr lang="en-US" sz="1350" dirty="0">
                <a:solidFill>
                  <a:srgbClr val="5B5B7A"/>
                </a:solidFill>
                <a:latin typeface="Calibri" pitchFamily="34" charset="0"/>
                <a:ea typeface="Calibri" pitchFamily="34" charset="-122"/>
                <a:cs typeface="Calibri" pitchFamily="34" charset="-120"/>
              </a:rPr>
              <a:t>per class</a:t>
            </a:r>
            <a:endParaRPr lang="en-US" sz="1350" dirty="0"/>
          </a:p>
        </p:txBody>
      </p:sp>
      <p:sp>
        <p:nvSpPr>
          <p:cNvPr id="13" name="Shape 11"/>
          <p:cNvSpPr/>
          <p:nvPr/>
        </p:nvSpPr>
        <p:spPr>
          <a:xfrm>
            <a:off x="9027414" y="1737360"/>
            <a:ext cx="2521458" cy="1938528"/>
          </a:xfrm>
          <a:prstGeom prst="roundRect">
            <a:avLst>
              <a:gd name="adj" fmla="val 5660"/>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4" name="Text 12"/>
          <p:cNvSpPr/>
          <p:nvPr/>
        </p:nvSpPr>
        <p:spPr>
          <a:xfrm>
            <a:off x="9256014" y="1938528"/>
            <a:ext cx="2103120" cy="868680"/>
          </a:xfrm>
          <a:prstGeom prst="rect">
            <a:avLst/>
          </a:prstGeom>
          <a:noFill/>
          <a:ln/>
        </p:spPr>
        <p:txBody>
          <a:bodyPr wrap="square" lIns="0" tIns="0" rIns="0" bIns="0" rtlCol="0" anchor="ctr"/>
          <a:lstStyle/>
          <a:p>
            <a:pPr indent="0" marL="0">
              <a:buNone/>
            </a:pPr>
            <a:r>
              <a:rPr lang="en-US" sz="5400" b="1" dirty="0">
                <a:solidFill>
                  <a:srgbClr val="3B2E8F"/>
                </a:solidFill>
                <a:latin typeface="Cambria" pitchFamily="34" charset="0"/>
                <a:ea typeface="Cambria" pitchFamily="34" charset="-122"/>
                <a:cs typeface="Cambria" pitchFamily="34" charset="-120"/>
              </a:rPr>
              <a:t>3–12</a:t>
            </a:r>
            <a:endParaRPr lang="en-US" sz="5400" dirty="0"/>
          </a:p>
        </p:txBody>
      </p:sp>
      <p:sp>
        <p:nvSpPr>
          <p:cNvPr id="15" name="Text 13"/>
          <p:cNvSpPr/>
          <p:nvPr/>
        </p:nvSpPr>
        <p:spPr>
          <a:xfrm>
            <a:off x="9283446" y="2880360"/>
            <a:ext cx="2103120" cy="822960"/>
          </a:xfrm>
          <a:prstGeom prst="rect">
            <a:avLst/>
          </a:prstGeom>
          <a:noFill/>
          <a:ln/>
        </p:spPr>
        <p:txBody>
          <a:bodyPr wrap="square" lIns="0" tIns="0" rIns="0" bIns="0" rtlCol="0" anchor="t"/>
          <a:lstStyle/>
          <a:p>
            <a:pPr indent="0" marL="0">
              <a:lnSpc>
                <a:spcPts val="1800"/>
              </a:lnSpc>
              <a:buNone/>
            </a:pPr>
            <a:r>
              <a:rPr lang="en-US" sz="1350" dirty="0">
                <a:solidFill>
                  <a:srgbClr val="5B5B7A"/>
                </a:solidFill>
                <a:latin typeface="Calibri" pitchFamily="34" charset="0"/>
                <a:ea typeface="Calibri" pitchFamily="34" charset="-122"/>
                <a:cs typeface="Calibri" pitchFamily="34" charset="-120"/>
              </a:rPr>
              <a:t>Grades served, in</a:t>
            </a:r>
            <a:endParaRPr lang="en-US" sz="1350" dirty="0"/>
          </a:p>
          <a:p>
            <a:pPr indent="0" marL="0">
              <a:lnSpc>
                <a:spcPts val="1800"/>
              </a:lnSpc>
              <a:buNone/>
            </a:pPr>
            <a:r>
              <a:rPr lang="en-US" sz="1350" dirty="0">
                <a:solidFill>
                  <a:srgbClr val="5B5B7A"/>
                </a:solidFill>
                <a:latin typeface="Calibri" pitchFamily="34" charset="0"/>
                <a:ea typeface="Calibri" pitchFamily="34" charset="-122"/>
                <a:cs typeface="Calibri" pitchFamily="34" charset="-120"/>
              </a:rPr>
              <a:t>three separate bands</a:t>
            </a:r>
            <a:endParaRPr lang="en-US" sz="1350" dirty="0"/>
          </a:p>
        </p:txBody>
      </p:sp>
      <p:sp>
        <p:nvSpPr>
          <p:cNvPr id="16" name="Shape 14"/>
          <p:cNvSpPr/>
          <p:nvPr/>
        </p:nvSpPr>
        <p:spPr>
          <a:xfrm>
            <a:off x="640080" y="3977640"/>
            <a:ext cx="10908792" cy="1645920"/>
          </a:xfrm>
          <a:prstGeom prst="roundRect">
            <a:avLst>
              <a:gd name="adj" fmla="val 6667"/>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7" name="Text 15"/>
          <p:cNvSpPr/>
          <p:nvPr/>
        </p:nvSpPr>
        <p:spPr>
          <a:xfrm>
            <a:off x="960120" y="4160520"/>
            <a:ext cx="4572000" cy="320040"/>
          </a:xfrm>
          <a:prstGeom prst="rect">
            <a:avLst/>
          </a:prstGeom>
          <a:noFill/>
          <a:ln/>
        </p:spPr>
        <p:txBody>
          <a:bodyPr wrap="square" lIns="0" tIns="0" rIns="0" bIns="0" rtlCol="0" anchor="ctr"/>
          <a:lstStyle/>
          <a:p>
            <a:pPr indent="0" marL="0">
              <a:buNone/>
            </a:pPr>
            <a:r>
              <a:rPr lang="en-US" sz="2000" b="1" dirty="0">
                <a:solidFill>
                  <a:srgbClr val="141438"/>
                </a:solidFill>
                <a:latin typeface="Cambria" pitchFamily="34" charset="0"/>
                <a:ea typeface="Cambria" pitchFamily="34" charset="-122"/>
                <a:cs typeface="Cambria" pitchFamily="34" charset="-120"/>
              </a:rPr>
              <a:t>How a session runs</a:t>
            </a:r>
            <a:endParaRPr lang="en-US" sz="2000" dirty="0"/>
          </a:p>
        </p:txBody>
      </p:sp>
      <p:sp>
        <p:nvSpPr>
          <p:cNvPr id="18" name="Shape 16"/>
          <p:cNvSpPr/>
          <p:nvPr/>
        </p:nvSpPr>
        <p:spPr>
          <a:xfrm>
            <a:off x="960120" y="4736592"/>
            <a:ext cx="384048" cy="384048"/>
          </a:xfrm>
          <a:prstGeom prst="ellipse">
            <a:avLst/>
          </a:prstGeom>
          <a:solidFill>
            <a:srgbClr val="FF7A29"/>
          </a:solidFill>
          <a:ln/>
        </p:spPr>
      </p:sp>
      <p:sp>
        <p:nvSpPr>
          <p:cNvPr id="19" name="Text 17"/>
          <p:cNvSpPr/>
          <p:nvPr/>
        </p:nvSpPr>
        <p:spPr>
          <a:xfrm>
            <a:off x="960120"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0" name="Text 18"/>
          <p:cNvSpPr/>
          <p:nvPr/>
        </p:nvSpPr>
        <p:spPr>
          <a:xfrm>
            <a:off x="1463040" y="4709160"/>
            <a:ext cx="2011680" cy="256032"/>
          </a:xfrm>
          <a:prstGeom prst="rect">
            <a:avLst/>
          </a:prstGeom>
          <a:noFill/>
          <a:ln/>
        </p:spPr>
        <p:txBody>
          <a:bodyPr wrap="square" lIns="0" tIns="0" rIns="0" bIns="0" rtlCol="0" anchor="ctr"/>
          <a:lstStyle/>
          <a:p>
            <a:pPr indent="0" marL="0">
              <a:buNone/>
            </a:pPr>
            <a:r>
              <a:rPr lang="en-US" sz="1350" b="1" dirty="0">
                <a:solidFill>
                  <a:srgbClr val="141438"/>
                </a:solidFill>
                <a:latin typeface="Calibri" pitchFamily="34" charset="0"/>
                <a:ea typeface="Calibri" pitchFamily="34" charset="-122"/>
                <a:cs typeface="Calibri" pitchFamily="34" charset="-120"/>
              </a:rPr>
              <a:t>Warm-up concept</a:t>
            </a:r>
            <a:endParaRPr lang="en-US" sz="1350" dirty="0"/>
          </a:p>
        </p:txBody>
      </p:sp>
      <p:sp>
        <p:nvSpPr>
          <p:cNvPr id="21" name="Text 19"/>
          <p:cNvSpPr/>
          <p:nvPr/>
        </p:nvSpPr>
        <p:spPr>
          <a:xfrm>
            <a:off x="1463040" y="4965192"/>
            <a:ext cx="2011680" cy="237744"/>
          </a:xfrm>
          <a:prstGeom prst="rect">
            <a:avLst/>
          </a:prstGeom>
          <a:noFill/>
          <a:ln/>
        </p:spPr>
        <p:txBody>
          <a:bodyPr wrap="square" lIns="0" tIns="0" rIns="0" bIns="0" rtlCol="0" anchor="ctr"/>
          <a:lstStyle/>
          <a:p>
            <a:pPr indent="0" marL="0">
              <a:buNone/>
            </a:pPr>
            <a:r>
              <a:rPr lang="en-US" sz="1200" dirty="0">
                <a:solidFill>
                  <a:srgbClr val="5B5B7A"/>
                </a:solidFill>
                <a:latin typeface="Calibri" pitchFamily="34" charset="0"/>
                <a:ea typeface="Calibri" pitchFamily="34" charset="-122"/>
                <a:cs typeface="Calibri" pitchFamily="34" charset="-120"/>
              </a:rPr>
              <a:t>15 min</a:t>
            </a:r>
            <a:endParaRPr lang="en-US" sz="1200" dirty="0"/>
          </a:p>
        </p:txBody>
      </p:sp>
      <p:sp>
        <p:nvSpPr>
          <p:cNvPr id="22" name="Shape 20"/>
          <p:cNvSpPr/>
          <p:nvPr/>
        </p:nvSpPr>
        <p:spPr>
          <a:xfrm>
            <a:off x="3566160" y="4736592"/>
            <a:ext cx="384048" cy="384048"/>
          </a:xfrm>
          <a:prstGeom prst="ellipse">
            <a:avLst/>
          </a:prstGeom>
          <a:solidFill>
            <a:srgbClr val="00A8B5"/>
          </a:solidFill>
          <a:ln/>
        </p:spPr>
      </p:sp>
      <p:sp>
        <p:nvSpPr>
          <p:cNvPr id="23" name="Text 21"/>
          <p:cNvSpPr/>
          <p:nvPr/>
        </p:nvSpPr>
        <p:spPr>
          <a:xfrm>
            <a:off x="3566160"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Text 22"/>
          <p:cNvSpPr/>
          <p:nvPr/>
        </p:nvSpPr>
        <p:spPr>
          <a:xfrm>
            <a:off x="4069080" y="4709160"/>
            <a:ext cx="2011680" cy="256032"/>
          </a:xfrm>
          <a:prstGeom prst="rect">
            <a:avLst/>
          </a:prstGeom>
          <a:noFill/>
          <a:ln/>
        </p:spPr>
        <p:txBody>
          <a:bodyPr wrap="square" lIns="0" tIns="0" rIns="0" bIns="0" rtlCol="0" anchor="ctr"/>
          <a:lstStyle/>
          <a:p>
            <a:pPr indent="0" marL="0">
              <a:buNone/>
            </a:pPr>
            <a:r>
              <a:rPr lang="en-US" sz="1350" b="1" dirty="0">
                <a:solidFill>
                  <a:srgbClr val="141438"/>
                </a:solidFill>
                <a:latin typeface="Calibri" pitchFamily="34" charset="0"/>
                <a:ea typeface="Calibri" pitchFamily="34" charset="-122"/>
                <a:cs typeface="Calibri" pitchFamily="34" charset="-120"/>
              </a:rPr>
              <a:t>Guided build</a:t>
            </a:r>
            <a:endParaRPr lang="en-US" sz="1350" dirty="0"/>
          </a:p>
        </p:txBody>
      </p:sp>
      <p:sp>
        <p:nvSpPr>
          <p:cNvPr id="25" name="Text 23"/>
          <p:cNvSpPr/>
          <p:nvPr/>
        </p:nvSpPr>
        <p:spPr>
          <a:xfrm>
            <a:off x="4069080" y="4965192"/>
            <a:ext cx="2011680" cy="237744"/>
          </a:xfrm>
          <a:prstGeom prst="rect">
            <a:avLst/>
          </a:prstGeom>
          <a:noFill/>
          <a:ln/>
        </p:spPr>
        <p:txBody>
          <a:bodyPr wrap="square" lIns="0" tIns="0" rIns="0" bIns="0" rtlCol="0" anchor="ctr"/>
          <a:lstStyle/>
          <a:p>
            <a:pPr indent="0" marL="0">
              <a:buNone/>
            </a:pPr>
            <a:r>
              <a:rPr lang="en-US" sz="1200" dirty="0">
                <a:solidFill>
                  <a:srgbClr val="5B5B7A"/>
                </a:solidFill>
                <a:latin typeface="Calibri" pitchFamily="34" charset="0"/>
                <a:ea typeface="Calibri" pitchFamily="34" charset="-122"/>
                <a:cs typeface="Calibri" pitchFamily="34" charset="-120"/>
              </a:rPr>
              <a:t>40 min</a:t>
            </a:r>
            <a:endParaRPr lang="en-US" sz="1200" dirty="0"/>
          </a:p>
        </p:txBody>
      </p:sp>
      <p:sp>
        <p:nvSpPr>
          <p:cNvPr id="26" name="Shape 24"/>
          <p:cNvSpPr/>
          <p:nvPr/>
        </p:nvSpPr>
        <p:spPr>
          <a:xfrm>
            <a:off x="6172200" y="4736592"/>
            <a:ext cx="384048" cy="384048"/>
          </a:xfrm>
          <a:prstGeom prst="ellipse">
            <a:avLst/>
          </a:prstGeom>
          <a:solidFill>
            <a:srgbClr val="FF7A29"/>
          </a:solidFill>
          <a:ln/>
        </p:spPr>
      </p:sp>
      <p:sp>
        <p:nvSpPr>
          <p:cNvPr id="27" name="Text 25"/>
          <p:cNvSpPr/>
          <p:nvPr/>
        </p:nvSpPr>
        <p:spPr>
          <a:xfrm>
            <a:off x="6172200"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6"/>
          <p:cNvSpPr/>
          <p:nvPr/>
        </p:nvSpPr>
        <p:spPr>
          <a:xfrm>
            <a:off x="6675120" y="4709160"/>
            <a:ext cx="2011680" cy="256032"/>
          </a:xfrm>
          <a:prstGeom prst="rect">
            <a:avLst/>
          </a:prstGeom>
          <a:noFill/>
          <a:ln/>
        </p:spPr>
        <p:txBody>
          <a:bodyPr wrap="square" lIns="0" tIns="0" rIns="0" bIns="0" rtlCol="0" anchor="ctr"/>
          <a:lstStyle/>
          <a:p>
            <a:pPr indent="0" marL="0">
              <a:buNone/>
            </a:pPr>
            <a:r>
              <a:rPr lang="en-US" sz="1350" b="1" dirty="0">
                <a:solidFill>
                  <a:srgbClr val="141438"/>
                </a:solidFill>
                <a:latin typeface="Calibri" pitchFamily="34" charset="0"/>
                <a:ea typeface="Calibri" pitchFamily="34" charset="-122"/>
                <a:cs typeface="Calibri" pitchFamily="34" charset="-120"/>
              </a:rPr>
              <a:t>Team challenge</a:t>
            </a:r>
            <a:endParaRPr lang="en-US" sz="1350" dirty="0"/>
          </a:p>
        </p:txBody>
      </p:sp>
      <p:sp>
        <p:nvSpPr>
          <p:cNvPr id="29" name="Text 27"/>
          <p:cNvSpPr/>
          <p:nvPr/>
        </p:nvSpPr>
        <p:spPr>
          <a:xfrm>
            <a:off x="6675120" y="4965192"/>
            <a:ext cx="2011680" cy="237744"/>
          </a:xfrm>
          <a:prstGeom prst="rect">
            <a:avLst/>
          </a:prstGeom>
          <a:noFill/>
          <a:ln/>
        </p:spPr>
        <p:txBody>
          <a:bodyPr wrap="square" lIns="0" tIns="0" rIns="0" bIns="0" rtlCol="0" anchor="ctr"/>
          <a:lstStyle/>
          <a:p>
            <a:pPr indent="0" marL="0">
              <a:buNone/>
            </a:pPr>
            <a:r>
              <a:rPr lang="en-US" sz="1200" dirty="0">
                <a:solidFill>
                  <a:srgbClr val="5B5B7A"/>
                </a:solidFill>
                <a:latin typeface="Calibri" pitchFamily="34" charset="0"/>
                <a:ea typeface="Calibri" pitchFamily="34" charset="-122"/>
                <a:cs typeface="Calibri" pitchFamily="34" charset="-120"/>
              </a:rPr>
              <a:t>25 min</a:t>
            </a:r>
            <a:endParaRPr lang="en-US" sz="1200" dirty="0"/>
          </a:p>
        </p:txBody>
      </p:sp>
      <p:sp>
        <p:nvSpPr>
          <p:cNvPr id="30" name="Shape 28"/>
          <p:cNvSpPr/>
          <p:nvPr/>
        </p:nvSpPr>
        <p:spPr>
          <a:xfrm>
            <a:off x="8778240" y="4736592"/>
            <a:ext cx="384048" cy="384048"/>
          </a:xfrm>
          <a:prstGeom prst="ellipse">
            <a:avLst/>
          </a:prstGeom>
          <a:solidFill>
            <a:srgbClr val="00A8B5"/>
          </a:solidFill>
          <a:ln/>
        </p:spPr>
      </p:sp>
      <p:sp>
        <p:nvSpPr>
          <p:cNvPr id="31" name="Text 29"/>
          <p:cNvSpPr/>
          <p:nvPr/>
        </p:nvSpPr>
        <p:spPr>
          <a:xfrm>
            <a:off x="8778240"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281160" y="4709160"/>
            <a:ext cx="2011680" cy="256032"/>
          </a:xfrm>
          <a:prstGeom prst="rect">
            <a:avLst/>
          </a:prstGeom>
          <a:noFill/>
          <a:ln/>
        </p:spPr>
        <p:txBody>
          <a:bodyPr wrap="square" lIns="0" tIns="0" rIns="0" bIns="0" rtlCol="0" anchor="ctr"/>
          <a:lstStyle/>
          <a:p>
            <a:pPr indent="0" marL="0">
              <a:buNone/>
            </a:pPr>
            <a:r>
              <a:rPr lang="en-US" sz="1350" b="1" dirty="0">
                <a:solidFill>
                  <a:srgbClr val="141438"/>
                </a:solidFill>
                <a:latin typeface="Calibri" pitchFamily="34" charset="0"/>
                <a:ea typeface="Calibri" pitchFamily="34" charset="-122"/>
                <a:cs typeface="Calibri" pitchFamily="34" charset="-120"/>
              </a:rPr>
              <a:t>Share &amp; reflect</a:t>
            </a:r>
            <a:endParaRPr lang="en-US" sz="1350" dirty="0"/>
          </a:p>
        </p:txBody>
      </p:sp>
      <p:sp>
        <p:nvSpPr>
          <p:cNvPr id="33" name="Text 31"/>
          <p:cNvSpPr/>
          <p:nvPr/>
        </p:nvSpPr>
        <p:spPr>
          <a:xfrm>
            <a:off x="9281160" y="4965192"/>
            <a:ext cx="2011680" cy="237744"/>
          </a:xfrm>
          <a:prstGeom prst="rect">
            <a:avLst/>
          </a:prstGeom>
          <a:noFill/>
          <a:ln/>
        </p:spPr>
        <p:txBody>
          <a:bodyPr wrap="square" lIns="0" tIns="0" rIns="0" bIns="0" rtlCol="0" anchor="ctr"/>
          <a:lstStyle/>
          <a:p>
            <a:pPr indent="0" marL="0">
              <a:buNone/>
            </a:pPr>
            <a:r>
              <a:rPr lang="en-US" sz="1200" dirty="0">
                <a:solidFill>
                  <a:srgbClr val="5B5B7A"/>
                </a:solidFill>
                <a:latin typeface="Calibri" pitchFamily="34" charset="0"/>
                <a:ea typeface="Calibri" pitchFamily="34" charset="-122"/>
                <a:cs typeface="Calibri" pitchFamily="34" charset="-120"/>
              </a:rPr>
              <a:t>10 min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50" kern="0" dirty="0">
                <a:solidFill>
                  <a:srgbClr val="00A8B5"/>
                </a:solidFill>
                <a:latin typeface="Calibri" pitchFamily="34" charset="0"/>
                <a:ea typeface="Calibri" pitchFamily="34" charset="-122"/>
                <a:cs typeface="Calibri" pitchFamily="34" charset="-120"/>
              </a:rPr>
              <a:t>ONE PROGRAM, THREE CURRICULA</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Built for the age in the room</a:t>
            </a:r>
            <a:endParaRPr lang="en-US" sz="3800" dirty="0"/>
          </a:p>
        </p:txBody>
      </p:sp>
      <p:sp>
        <p:nvSpPr>
          <p:cNvPr id="4" name="Shape 2"/>
          <p:cNvSpPr/>
          <p:nvPr/>
        </p:nvSpPr>
        <p:spPr>
          <a:xfrm>
            <a:off x="640080" y="1691640"/>
            <a:ext cx="3453414" cy="4041648"/>
          </a:xfrm>
          <a:prstGeom prst="roundRect">
            <a:avLst>
              <a:gd name="adj" fmla="val 3177"/>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5" name="Shape 3"/>
          <p:cNvSpPr/>
          <p:nvPr/>
        </p:nvSpPr>
        <p:spPr>
          <a:xfrm>
            <a:off x="914400" y="1920240"/>
            <a:ext cx="2880360" cy="310896"/>
          </a:xfrm>
          <a:prstGeom prst="roundRect">
            <a:avLst>
              <a:gd name="adj" fmla="val 50000"/>
            </a:avLst>
          </a:prstGeom>
          <a:solidFill>
            <a:srgbClr val="3B2E8F"/>
          </a:solidFill>
          <a:ln w="12700">
            <a:solidFill>
              <a:srgbClr val="3B2E8F"/>
            </a:solidFill>
            <a:prstDash val="solid"/>
          </a:ln>
        </p:spPr>
      </p:sp>
      <p:sp>
        <p:nvSpPr>
          <p:cNvPr id="6" name="Text 4"/>
          <p:cNvSpPr/>
          <p:nvPr/>
        </p:nvSpPr>
        <p:spPr>
          <a:xfrm>
            <a:off x="914400" y="1920240"/>
            <a:ext cx="2880360"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ELEMENTARY · GRADES 3–5</a:t>
            </a:r>
            <a:endParaRPr lang="en-US" sz="950" dirty="0"/>
          </a:p>
        </p:txBody>
      </p:sp>
      <p:sp>
        <p:nvSpPr>
          <p:cNvPr id="7" name="Text 5"/>
          <p:cNvSpPr/>
          <p:nvPr/>
        </p:nvSpPr>
        <p:spPr>
          <a:xfrm>
            <a:off x="914400" y="2331720"/>
            <a:ext cx="2880360" cy="384048"/>
          </a:xfrm>
          <a:prstGeom prst="rect">
            <a:avLst/>
          </a:prstGeom>
          <a:noFill/>
          <a:ln/>
        </p:spPr>
        <p:txBody>
          <a:bodyPr wrap="square" lIns="0" tIns="0" rIns="0" bIns="0" rtlCol="0" anchor="ctr"/>
          <a:lstStyle/>
          <a:p>
            <a:pPr indent="0" marL="0">
              <a:buNone/>
            </a:pPr>
            <a:r>
              <a:rPr lang="en-US" sz="2400" b="1" dirty="0">
                <a:solidFill>
                  <a:srgbClr val="141438"/>
                </a:solidFill>
                <a:latin typeface="Cambria" pitchFamily="34" charset="0"/>
                <a:ea typeface="Cambria" pitchFamily="34" charset="-122"/>
                <a:cs typeface="Cambria" pitchFamily="34" charset="-120"/>
              </a:rPr>
              <a:t>AI Explorers</a:t>
            </a:r>
            <a:endParaRPr lang="en-US" sz="2400" dirty="0"/>
          </a:p>
        </p:txBody>
      </p:sp>
      <p:sp>
        <p:nvSpPr>
          <p:cNvPr id="8" name="Text 6"/>
          <p:cNvSpPr/>
          <p:nvPr/>
        </p:nvSpPr>
        <p:spPr>
          <a:xfrm>
            <a:off x="914400" y="2734056"/>
            <a:ext cx="2880360" cy="502920"/>
          </a:xfrm>
          <a:prstGeom prst="rect">
            <a:avLst/>
          </a:prstGeom>
          <a:noFill/>
          <a:ln/>
        </p:spPr>
        <p:txBody>
          <a:bodyPr wrap="square" lIns="0" tIns="0" rIns="0" bIns="0" rtlCol="0" anchor="t"/>
          <a:lstStyle/>
          <a:p>
            <a:pPr indent="0" marL="0">
              <a:lnSpc>
                <a:spcPts val="1600"/>
              </a:lnSpc>
              <a:buNone/>
            </a:pPr>
            <a:r>
              <a:rPr lang="en-US" sz="1250" b="1" i="1" dirty="0">
                <a:solidFill>
                  <a:srgbClr val="3B2E8F"/>
                </a:solidFill>
                <a:latin typeface="Calibri" pitchFamily="34" charset="0"/>
                <a:ea typeface="Calibri" pitchFamily="34" charset="-122"/>
                <a:cs typeface="Calibri" pitchFamily="34" charset="-120"/>
              </a:rPr>
              <a:t>Discover. Create.</a:t>
            </a:r>
            <a:endParaRPr lang="en-US" sz="1250" dirty="0"/>
          </a:p>
          <a:p>
            <a:pPr indent="0" marL="0">
              <a:lnSpc>
                <a:spcPts val="1600"/>
              </a:lnSpc>
              <a:buNone/>
            </a:pPr>
            <a:r>
              <a:rPr lang="en-US" sz="1250" b="1" i="1" dirty="0">
                <a:solidFill>
                  <a:srgbClr val="3B2E8F"/>
                </a:solidFill>
                <a:latin typeface="Calibri" pitchFamily="34" charset="0"/>
                <a:ea typeface="Calibri" pitchFamily="34" charset="-122"/>
                <a:cs typeface="Calibri" pitchFamily="34" charset="-120"/>
              </a:rPr>
              <a:t>Innovate. Together!</a:t>
            </a:r>
            <a:endParaRPr lang="en-US" sz="1250" dirty="0"/>
          </a:p>
        </p:txBody>
      </p:sp>
      <p:sp>
        <p:nvSpPr>
          <p:cNvPr id="9" name="Text 7"/>
          <p:cNvSpPr/>
          <p:nvPr/>
        </p:nvSpPr>
        <p:spPr>
          <a:xfrm>
            <a:off x="914400" y="3291840"/>
            <a:ext cx="2944368" cy="1554480"/>
          </a:xfrm>
          <a:prstGeom prst="rect">
            <a:avLst/>
          </a:prstGeom>
          <a:noFill/>
          <a:ln/>
        </p:spPr>
        <p:txBody>
          <a:bodyPr wrap="square" lIns="0" tIns="0" rIns="0" bIns="0" rtlCol="0" anchor="t"/>
          <a:lstStyle/>
          <a:p>
            <a:pPr indent="0" marL="0">
              <a:lnSpc>
                <a:spcPts val="1700"/>
              </a:lnSpc>
              <a:buNone/>
            </a:pPr>
            <a:r>
              <a:rPr lang="en-US" sz="1250" dirty="0">
                <a:solidFill>
                  <a:srgbClr val="5B5B7A"/>
                </a:solidFill>
                <a:latin typeface="Calibri" pitchFamily="34" charset="0"/>
                <a:ea typeface="Calibri" pitchFamily="34" charset="-122"/>
                <a:cs typeface="Calibri" pitchFamily="34" charset="-120"/>
              </a:rPr>
              <a:t>Playful, screen-light introduction. Kids meet AI through storytelling, art, games and team challenges — and learn what it means to be safe and kind online.</a:t>
            </a:r>
            <a:endParaRPr lang="en-US" sz="1250" dirty="0"/>
          </a:p>
        </p:txBody>
      </p:sp>
      <p:pic>
        <p:nvPicPr>
          <p:cNvPr id="10" name="Image 0" descr="preencoded.png">    </p:cNvPr>
          <p:cNvPicPr>
            <a:picLocks noChangeAspect="1"/>
          </p:cNvPicPr>
          <p:nvPr/>
        </p:nvPicPr>
        <p:blipFill>
          <a:blip r:embed="rId1"/>
          <a:stretch>
            <a:fillRect/>
          </a:stretch>
        </p:blipFill>
        <p:spPr>
          <a:xfrm>
            <a:off x="914400" y="4681728"/>
            <a:ext cx="786384" cy="914400"/>
          </a:xfrm>
          <a:prstGeom prst="rect">
            <a:avLst/>
          </a:prstGeom>
        </p:spPr>
      </p:pic>
      <p:sp>
        <p:nvSpPr>
          <p:cNvPr id="11" name="Text 8"/>
          <p:cNvSpPr/>
          <p:nvPr/>
        </p:nvSpPr>
        <p:spPr>
          <a:xfrm>
            <a:off x="1828800" y="4828032"/>
            <a:ext cx="1920240" cy="685800"/>
          </a:xfrm>
          <a:prstGeom prst="rect">
            <a:avLst/>
          </a:prstGeom>
          <a:noFill/>
          <a:ln/>
        </p:spPr>
        <p:txBody>
          <a:bodyPr wrap="square" lIns="0" tIns="0" rIns="0" bIns="0" rtlCol="0" anchor="ctr"/>
          <a:lstStyle/>
          <a:p>
            <a:pPr indent="0" marL="0">
              <a:lnSpc>
                <a:spcPts val="1400"/>
              </a:lnSpc>
              <a:buNone/>
            </a:pPr>
            <a:r>
              <a:rPr lang="en-US" sz="1050" dirty="0">
                <a:solidFill>
                  <a:srgbClr val="5B5B7A"/>
                </a:solidFill>
                <a:latin typeface="Calibri" pitchFamily="34" charset="0"/>
                <a:ea typeface="Calibri" pitchFamily="34" charset="-122"/>
                <a:cs typeface="Calibri" pitchFamily="34" charset="-120"/>
              </a:rPr>
              <a:t>Printed flyer</a:t>
            </a:r>
            <a:endParaRPr lang="en-US" sz="1050" dirty="0"/>
          </a:p>
          <a:p>
            <a:pPr indent="0" marL="0">
              <a:lnSpc>
                <a:spcPts val="1400"/>
              </a:lnSpc>
              <a:buNone/>
            </a:pPr>
            <a:r>
              <a:rPr lang="en-US" sz="1050" dirty="0">
                <a:solidFill>
                  <a:srgbClr val="5B5B7A"/>
                </a:solidFill>
                <a:latin typeface="Calibri" pitchFamily="34" charset="0"/>
                <a:ea typeface="Calibri" pitchFamily="34" charset="-122"/>
                <a:cs typeface="Calibri" pitchFamily="34" charset="-120"/>
              </a:rPr>
              <a:t>available for</a:t>
            </a:r>
            <a:endParaRPr lang="en-US" sz="1050" dirty="0"/>
          </a:p>
          <a:p>
            <a:pPr indent="0" marL="0">
              <a:lnSpc>
                <a:spcPts val="1400"/>
              </a:lnSpc>
              <a:buNone/>
            </a:pPr>
            <a:r>
              <a:rPr lang="en-US" sz="1050" dirty="0">
                <a:solidFill>
                  <a:srgbClr val="5B5B7A"/>
                </a:solidFill>
                <a:latin typeface="Calibri" pitchFamily="34" charset="0"/>
                <a:ea typeface="Calibri" pitchFamily="34" charset="-122"/>
                <a:cs typeface="Calibri" pitchFamily="34" charset="-120"/>
              </a:rPr>
              <a:t>family takeaway</a:t>
            </a:r>
            <a:endParaRPr lang="en-US" sz="1050" dirty="0"/>
          </a:p>
        </p:txBody>
      </p:sp>
      <p:sp>
        <p:nvSpPr>
          <p:cNvPr id="12" name="Shape 9"/>
          <p:cNvSpPr/>
          <p:nvPr/>
        </p:nvSpPr>
        <p:spPr>
          <a:xfrm>
            <a:off x="4367814" y="1691640"/>
            <a:ext cx="3453414" cy="4041648"/>
          </a:xfrm>
          <a:prstGeom prst="roundRect">
            <a:avLst>
              <a:gd name="adj" fmla="val 3177"/>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3" name="Shape 10"/>
          <p:cNvSpPr/>
          <p:nvPr/>
        </p:nvSpPr>
        <p:spPr>
          <a:xfrm>
            <a:off x="4642134" y="1920240"/>
            <a:ext cx="2880360" cy="310896"/>
          </a:xfrm>
          <a:prstGeom prst="roundRect">
            <a:avLst>
              <a:gd name="adj" fmla="val 50000"/>
            </a:avLst>
          </a:prstGeom>
          <a:solidFill>
            <a:srgbClr val="00A8B5"/>
          </a:solidFill>
          <a:ln w="12700">
            <a:solidFill>
              <a:srgbClr val="00A8B5"/>
            </a:solidFill>
            <a:prstDash val="solid"/>
          </a:ln>
        </p:spPr>
      </p:sp>
      <p:sp>
        <p:nvSpPr>
          <p:cNvPr id="14" name="Text 11"/>
          <p:cNvSpPr/>
          <p:nvPr/>
        </p:nvSpPr>
        <p:spPr>
          <a:xfrm>
            <a:off x="4642134" y="1920240"/>
            <a:ext cx="2880360"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MIDDLE SCHOOL · GRADES 6–8</a:t>
            </a:r>
            <a:endParaRPr lang="en-US" sz="950" dirty="0"/>
          </a:p>
        </p:txBody>
      </p:sp>
      <p:sp>
        <p:nvSpPr>
          <p:cNvPr id="15" name="Text 12"/>
          <p:cNvSpPr/>
          <p:nvPr/>
        </p:nvSpPr>
        <p:spPr>
          <a:xfrm>
            <a:off x="4642134" y="2331720"/>
            <a:ext cx="2880360" cy="384048"/>
          </a:xfrm>
          <a:prstGeom prst="rect">
            <a:avLst/>
          </a:prstGeom>
          <a:noFill/>
          <a:ln/>
        </p:spPr>
        <p:txBody>
          <a:bodyPr wrap="square" lIns="0" tIns="0" rIns="0" bIns="0" rtlCol="0" anchor="ctr"/>
          <a:lstStyle/>
          <a:p>
            <a:pPr indent="0" marL="0">
              <a:buNone/>
            </a:pPr>
            <a:r>
              <a:rPr lang="en-US" sz="2400" b="1" dirty="0">
                <a:solidFill>
                  <a:srgbClr val="141438"/>
                </a:solidFill>
                <a:latin typeface="Cambria" pitchFamily="34" charset="0"/>
                <a:ea typeface="Cambria" pitchFamily="34" charset="-122"/>
                <a:cs typeface="Cambria" pitchFamily="34" charset="-120"/>
              </a:rPr>
              <a:t>AI Builders</a:t>
            </a:r>
            <a:endParaRPr lang="en-US" sz="2400" dirty="0"/>
          </a:p>
        </p:txBody>
      </p:sp>
      <p:sp>
        <p:nvSpPr>
          <p:cNvPr id="16" name="Text 13"/>
          <p:cNvSpPr/>
          <p:nvPr/>
        </p:nvSpPr>
        <p:spPr>
          <a:xfrm>
            <a:off x="4642134" y="2734056"/>
            <a:ext cx="2880360" cy="502920"/>
          </a:xfrm>
          <a:prstGeom prst="rect">
            <a:avLst/>
          </a:prstGeom>
          <a:noFill/>
          <a:ln/>
        </p:spPr>
        <p:txBody>
          <a:bodyPr wrap="square" lIns="0" tIns="0" rIns="0" bIns="0" rtlCol="0" anchor="t"/>
          <a:lstStyle/>
          <a:p>
            <a:pPr indent="0" marL="0">
              <a:lnSpc>
                <a:spcPts val="1600"/>
              </a:lnSpc>
              <a:buNone/>
            </a:pPr>
            <a:r>
              <a:rPr lang="en-US" sz="1250" b="1" i="1" dirty="0">
                <a:solidFill>
                  <a:srgbClr val="00A8B5"/>
                </a:solidFill>
                <a:latin typeface="Calibri" pitchFamily="34" charset="0"/>
                <a:ea typeface="Calibri" pitchFamily="34" charset="-122"/>
                <a:cs typeface="Calibri" pitchFamily="34" charset="-120"/>
              </a:rPr>
              <a:t>Think. Build. Impact.</a:t>
            </a:r>
            <a:endParaRPr lang="en-US" sz="1250" dirty="0"/>
          </a:p>
        </p:txBody>
      </p:sp>
      <p:sp>
        <p:nvSpPr>
          <p:cNvPr id="17" name="Text 14"/>
          <p:cNvSpPr/>
          <p:nvPr/>
        </p:nvSpPr>
        <p:spPr>
          <a:xfrm>
            <a:off x="4642134" y="3291840"/>
            <a:ext cx="2944368" cy="1554480"/>
          </a:xfrm>
          <a:prstGeom prst="rect">
            <a:avLst/>
          </a:prstGeom>
          <a:noFill/>
          <a:ln/>
        </p:spPr>
        <p:txBody>
          <a:bodyPr wrap="square" lIns="0" tIns="0" rIns="0" bIns="0" rtlCol="0" anchor="t"/>
          <a:lstStyle/>
          <a:p>
            <a:pPr indent="0" marL="0">
              <a:lnSpc>
                <a:spcPts val="1700"/>
              </a:lnSpc>
              <a:buNone/>
            </a:pPr>
            <a:r>
              <a:rPr lang="en-US" sz="1250" dirty="0">
                <a:solidFill>
                  <a:srgbClr val="5B5B7A"/>
                </a:solidFill>
                <a:latin typeface="Calibri" pitchFamily="34" charset="0"/>
                <a:ea typeface="Calibri" pitchFamily="34" charset="-122"/>
                <a:cs typeface="Calibri" pitchFamily="34" charset="-120"/>
              </a:rPr>
              <a:t>Concepts get real. Students train models, write prompts with intent, touch Python and block code, and ship projects that solve a problem they picked.</a:t>
            </a:r>
            <a:endParaRPr lang="en-US" sz="1250" dirty="0"/>
          </a:p>
        </p:txBody>
      </p:sp>
      <p:pic>
        <p:nvPicPr>
          <p:cNvPr id="18" name="Image 1" descr="preencoded.png">    </p:cNvPr>
          <p:cNvPicPr>
            <a:picLocks noChangeAspect="1"/>
          </p:cNvPicPr>
          <p:nvPr/>
        </p:nvPicPr>
        <p:blipFill>
          <a:blip r:embed="rId2"/>
          <a:stretch>
            <a:fillRect/>
          </a:stretch>
        </p:blipFill>
        <p:spPr>
          <a:xfrm>
            <a:off x="4642134" y="4681728"/>
            <a:ext cx="786384" cy="914400"/>
          </a:xfrm>
          <a:prstGeom prst="rect">
            <a:avLst/>
          </a:prstGeom>
        </p:spPr>
      </p:pic>
      <p:sp>
        <p:nvSpPr>
          <p:cNvPr id="19" name="Text 15"/>
          <p:cNvSpPr/>
          <p:nvPr/>
        </p:nvSpPr>
        <p:spPr>
          <a:xfrm>
            <a:off x="5556534" y="4828032"/>
            <a:ext cx="1920240" cy="685800"/>
          </a:xfrm>
          <a:prstGeom prst="rect">
            <a:avLst/>
          </a:prstGeom>
          <a:noFill/>
          <a:ln/>
        </p:spPr>
        <p:txBody>
          <a:bodyPr wrap="square" lIns="0" tIns="0" rIns="0" bIns="0" rtlCol="0" anchor="ctr"/>
          <a:lstStyle/>
          <a:p>
            <a:pPr indent="0" marL="0">
              <a:lnSpc>
                <a:spcPts val="1400"/>
              </a:lnSpc>
              <a:buNone/>
            </a:pPr>
            <a:r>
              <a:rPr lang="en-US" sz="1050" dirty="0">
                <a:solidFill>
                  <a:srgbClr val="5B5B7A"/>
                </a:solidFill>
                <a:latin typeface="Calibri" pitchFamily="34" charset="0"/>
                <a:ea typeface="Calibri" pitchFamily="34" charset="-122"/>
                <a:cs typeface="Calibri" pitchFamily="34" charset="-120"/>
              </a:rPr>
              <a:t>Printed flyer</a:t>
            </a:r>
            <a:endParaRPr lang="en-US" sz="1050" dirty="0"/>
          </a:p>
          <a:p>
            <a:pPr indent="0" marL="0">
              <a:lnSpc>
                <a:spcPts val="1400"/>
              </a:lnSpc>
              <a:buNone/>
            </a:pPr>
            <a:r>
              <a:rPr lang="en-US" sz="1050" dirty="0">
                <a:solidFill>
                  <a:srgbClr val="5B5B7A"/>
                </a:solidFill>
                <a:latin typeface="Calibri" pitchFamily="34" charset="0"/>
                <a:ea typeface="Calibri" pitchFamily="34" charset="-122"/>
                <a:cs typeface="Calibri" pitchFamily="34" charset="-120"/>
              </a:rPr>
              <a:t>available for</a:t>
            </a:r>
            <a:endParaRPr lang="en-US" sz="1050" dirty="0"/>
          </a:p>
          <a:p>
            <a:pPr indent="0" marL="0">
              <a:lnSpc>
                <a:spcPts val="1400"/>
              </a:lnSpc>
              <a:buNone/>
            </a:pPr>
            <a:r>
              <a:rPr lang="en-US" sz="1050" dirty="0">
                <a:solidFill>
                  <a:srgbClr val="5B5B7A"/>
                </a:solidFill>
                <a:latin typeface="Calibri" pitchFamily="34" charset="0"/>
                <a:ea typeface="Calibri" pitchFamily="34" charset="-122"/>
                <a:cs typeface="Calibri" pitchFamily="34" charset="-120"/>
              </a:rPr>
              <a:t>family takeaway</a:t>
            </a:r>
            <a:endParaRPr lang="en-US" sz="1050" dirty="0"/>
          </a:p>
        </p:txBody>
      </p:sp>
      <p:sp>
        <p:nvSpPr>
          <p:cNvPr id="20" name="Shape 16"/>
          <p:cNvSpPr/>
          <p:nvPr/>
        </p:nvSpPr>
        <p:spPr>
          <a:xfrm>
            <a:off x="8095549" y="1691640"/>
            <a:ext cx="3453414" cy="4041648"/>
          </a:xfrm>
          <a:prstGeom prst="roundRect">
            <a:avLst>
              <a:gd name="adj" fmla="val 3177"/>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21" name="Shape 17"/>
          <p:cNvSpPr/>
          <p:nvPr/>
        </p:nvSpPr>
        <p:spPr>
          <a:xfrm>
            <a:off x="8369869" y="1920240"/>
            <a:ext cx="2880360" cy="310896"/>
          </a:xfrm>
          <a:prstGeom prst="roundRect">
            <a:avLst>
              <a:gd name="adj" fmla="val 50000"/>
            </a:avLst>
          </a:prstGeom>
          <a:solidFill>
            <a:srgbClr val="FF7A29"/>
          </a:solidFill>
          <a:ln w="12700">
            <a:solidFill>
              <a:srgbClr val="FF7A29"/>
            </a:solidFill>
            <a:prstDash val="solid"/>
          </a:ln>
        </p:spPr>
      </p:sp>
      <p:sp>
        <p:nvSpPr>
          <p:cNvPr id="22" name="Text 18"/>
          <p:cNvSpPr/>
          <p:nvPr/>
        </p:nvSpPr>
        <p:spPr>
          <a:xfrm>
            <a:off x="8369869" y="1920240"/>
            <a:ext cx="2880360"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HIGH SCHOOL · GRADES 9–12</a:t>
            </a:r>
            <a:endParaRPr lang="en-US" sz="950" dirty="0"/>
          </a:p>
        </p:txBody>
      </p:sp>
      <p:sp>
        <p:nvSpPr>
          <p:cNvPr id="23" name="Text 19"/>
          <p:cNvSpPr/>
          <p:nvPr/>
        </p:nvSpPr>
        <p:spPr>
          <a:xfrm>
            <a:off x="8369869" y="2331720"/>
            <a:ext cx="2880360" cy="384048"/>
          </a:xfrm>
          <a:prstGeom prst="rect">
            <a:avLst/>
          </a:prstGeom>
          <a:noFill/>
          <a:ln/>
        </p:spPr>
        <p:txBody>
          <a:bodyPr wrap="square" lIns="0" tIns="0" rIns="0" bIns="0" rtlCol="0" anchor="ctr"/>
          <a:lstStyle/>
          <a:p>
            <a:pPr indent="0" marL="0">
              <a:buNone/>
            </a:pPr>
            <a:r>
              <a:rPr lang="en-US" sz="2400" b="1" dirty="0">
                <a:solidFill>
                  <a:srgbClr val="141438"/>
                </a:solidFill>
                <a:latin typeface="Cambria" pitchFamily="34" charset="0"/>
                <a:ea typeface="Cambria" pitchFamily="34" charset="-122"/>
                <a:cs typeface="Cambria" pitchFamily="34" charset="-120"/>
              </a:rPr>
              <a:t>AI Builders</a:t>
            </a:r>
            <a:endParaRPr lang="en-US" sz="2400" dirty="0"/>
          </a:p>
        </p:txBody>
      </p:sp>
      <p:sp>
        <p:nvSpPr>
          <p:cNvPr id="24" name="Text 20"/>
          <p:cNvSpPr/>
          <p:nvPr/>
        </p:nvSpPr>
        <p:spPr>
          <a:xfrm>
            <a:off x="8369869" y="2734056"/>
            <a:ext cx="2880360" cy="502920"/>
          </a:xfrm>
          <a:prstGeom prst="rect">
            <a:avLst/>
          </a:prstGeom>
          <a:noFill/>
          <a:ln/>
        </p:spPr>
        <p:txBody>
          <a:bodyPr wrap="square" lIns="0" tIns="0" rIns="0" bIns="0" rtlCol="0" anchor="t"/>
          <a:lstStyle/>
          <a:p>
            <a:pPr indent="0" marL="0">
              <a:lnSpc>
                <a:spcPts val="1600"/>
              </a:lnSpc>
              <a:buNone/>
            </a:pPr>
            <a:r>
              <a:rPr lang="en-US" sz="1250" b="1" i="1" dirty="0">
                <a:solidFill>
                  <a:srgbClr val="FF7A29"/>
                </a:solidFill>
                <a:latin typeface="Calibri" pitchFamily="34" charset="0"/>
                <a:ea typeface="Calibri" pitchFamily="34" charset="-122"/>
                <a:cs typeface="Calibri" pitchFamily="34" charset="-120"/>
              </a:rPr>
              <a:t>Real skills. Real projects.</a:t>
            </a:r>
            <a:endParaRPr lang="en-US" sz="1250" dirty="0"/>
          </a:p>
          <a:p>
            <a:pPr indent="0" marL="0">
              <a:lnSpc>
                <a:spcPts val="1600"/>
              </a:lnSpc>
              <a:buNone/>
            </a:pPr>
            <a:r>
              <a:rPr lang="en-US" sz="1250" b="1" i="1" dirty="0">
                <a:solidFill>
                  <a:srgbClr val="FF7A29"/>
                </a:solidFill>
                <a:latin typeface="Calibri" pitchFamily="34" charset="0"/>
                <a:ea typeface="Calibri" pitchFamily="34" charset="-122"/>
                <a:cs typeface="Calibri" pitchFamily="34" charset="-120"/>
              </a:rPr>
              <a:t>Real impact.</a:t>
            </a:r>
            <a:endParaRPr lang="en-US" sz="1250" dirty="0"/>
          </a:p>
        </p:txBody>
      </p:sp>
      <p:sp>
        <p:nvSpPr>
          <p:cNvPr id="25" name="Text 21"/>
          <p:cNvSpPr/>
          <p:nvPr/>
        </p:nvSpPr>
        <p:spPr>
          <a:xfrm>
            <a:off x="8369869" y="3291840"/>
            <a:ext cx="2944368" cy="1554480"/>
          </a:xfrm>
          <a:prstGeom prst="rect">
            <a:avLst/>
          </a:prstGeom>
          <a:noFill/>
          <a:ln/>
        </p:spPr>
        <p:txBody>
          <a:bodyPr wrap="square" lIns="0" tIns="0" rIns="0" bIns="0" rtlCol="0" anchor="t"/>
          <a:lstStyle/>
          <a:p>
            <a:pPr indent="0" marL="0">
              <a:lnSpc>
                <a:spcPts val="1700"/>
              </a:lnSpc>
              <a:buNone/>
            </a:pPr>
            <a:r>
              <a:rPr lang="en-US" sz="1250" dirty="0">
                <a:solidFill>
                  <a:srgbClr val="5B5B7A"/>
                </a:solidFill>
                <a:latin typeface="Calibri" pitchFamily="34" charset="0"/>
                <a:ea typeface="Calibri" pitchFamily="34" charset="-122"/>
                <a:cs typeface="Calibri" pitchFamily="34" charset="-120"/>
              </a:rPr>
              <a:t>Portfolio work. Python, machine learning, data science and ethics culminate in a capstone the student can show a college or an employer.</a:t>
            </a:r>
            <a:endParaRPr lang="en-US" sz="1250" dirty="0"/>
          </a:p>
        </p:txBody>
      </p:sp>
      <p:pic>
        <p:nvPicPr>
          <p:cNvPr id="26" name="Image 2" descr="preencoded.png">    </p:cNvPr>
          <p:cNvPicPr>
            <a:picLocks noChangeAspect="1"/>
          </p:cNvPicPr>
          <p:nvPr/>
        </p:nvPicPr>
        <p:blipFill>
          <a:blip r:embed="rId3"/>
          <a:stretch>
            <a:fillRect/>
          </a:stretch>
        </p:blipFill>
        <p:spPr>
          <a:xfrm>
            <a:off x="8369869" y="4681728"/>
            <a:ext cx="786384" cy="914400"/>
          </a:xfrm>
          <a:prstGeom prst="rect">
            <a:avLst/>
          </a:prstGeom>
        </p:spPr>
      </p:pic>
      <p:sp>
        <p:nvSpPr>
          <p:cNvPr id="27" name="Text 22"/>
          <p:cNvSpPr/>
          <p:nvPr/>
        </p:nvSpPr>
        <p:spPr>
          <a:xfrm>
            <a:off x="9284269" y="4828032"/>
            <a:ext cx="1920240" cy="685800"/>
          </a:xfrm>
          <a:prstGeom prst="rect">
            <a:avLst/>
          </a:prstGeom>
          <a:noFill/>
          <a:ln/>
        </p:spPr>
        <p:txBody>
          <a:bodyPr wrap="square" lIns="0" tIns="0" rIns="0" bIns="0" rtlCol="0" anchor="ctr"/>
          <a:lstStyle/>
          <a:p>
            <a:pPr indent="0" marL="0">
              <a:lnSpc>
                <a:spcPts val="1400"/>
              </a:lnSpc>
              <a:buNone/>
            </a:pPr>
            <a:r>
              <a:rPr lang="en-US" sz="1050" dirty="0">
                <a:solidFill>
                  <a:srgbClr val="5B5B7A"/>
                </a:solidFill>
                <a:latin typeface="Calibri" pitchFamily="34" charset="0"/>
                <a:ea typeface="Calibri" pitchFamily="34" charset="-122"/>
                <a:cs typeface="Calibri" pitchFamily="34" charset="-120"/>
              </a:rPr>
              <a:t>Printed flyer</a:t>
            </a:r>
            <a:endParaRPr lang="en-US" sz="1050" dirty="0"/>
          </a:p>
          <a:p>
            <a:pPr indent="0" marL="0">
              <a:lnSpc>
                <a:spcPts val="1400"/>
              </a:lnSpc>
              <a:buNone/>
            </a:pPr>
            <a:r>
              <a:rPr lang="en-US" sz="1050" dirty="0">
                <a:solidFill>
                  <a:srgbClr val="5B5B7A"/>
                </a:solidFill>
                <a:latin typeface="Calibri" pitchFamily="34" charset="0"/>
                <a:ea typeface="Calibri" pitchFamily="34" charset="-122"/>
                <a:cs typeface="Calibri" pitchFamily="34" charset="-120"/>
              </a:rPr>
              <a:t>available for</a:t>
            </a:r>
            <a:endParaRPr lang="en-US" sz="1050" dirty="0"/>
          </a:p>
          <a:p>
            <a:pPr indent="0" marL="0">
              <a:lnSpc>
                <a:spcPts val="1400"/>
              </a:lnSpc>
              <a:buNone/>
            </a:pPr>
            <a:r>
              <a:rPr lang="en-US" sz="1050" dirty="0">
                <a:solidFill>
                  <a:srgbClr val="5B5B7A"/>
                </a:solidFill>
                <a:latin typeface="Calibri" pitchFamily="34" charset="0"/>
                <a:ea typeface="Calibri" pitchFamily="34" charset="-122"/>
                <a:cs typeface="Calibri" pitchFamily="34" charset="-120"/>
              </a:rPr>
              <a:t>family takeaway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50" kern="0" dirty="0">
                <a:solidFill>
                  <a:srgbClr val="00A8B5"/>
                </a:solidFill>
                <a:latin typeface="Calibri" pitchFamily="34" charset="0"/>
                <a:ea typeface="Calibri" pitchFamily="34" charset="-122"/>
                <a:cs typeface="Calibri" pitchFamily="34" charset="-120"/>
              </a:rPr>
              <a:t>GRADES 3–5</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AI Explorers — elementary</a:t>
            </a:r>
            <a:endParaRPr lang="en-US" sz="3800" dirty="0"/>
          </a:p>
        </p:txBody>
      </p:sp>
      <p:pic>
        <p:nvPicPr>
          <p:cNvPr id="4" name="Image 0" descr="preencoded.png">    </p:cNvPr>
          <p:cNvPicPr>
            <a:picLocks noChangeAspect="1"/>
          </p:cNvPicPr>
          <p:nvPr/>
        </p:nvPicPr>
        <p:blipFill>
          <a:blip r:embed="rId1"/>
          <a:stretch>
            <a:fillRect/>
          </a:stretch>
        </p:blipFill>
        <p:spPr>
          <a:xfrm>
            <a:off x="8732520" y="1691640"/>
            <a:ext cx="2834640" cy="3657600"/>
          </a:xfrm>
          <a:prstGeom prst="rect">
            <a:avLst/>
          </a:prstGeom>
        </p:spPr>
      </p:pic>
      <p:sp>
        <p:nvSpPr>
          <p:cNvPr id="5" name="Shape 2"/>
          <p:cNvSpPr/>
          <p:nvPr/>
        </p:nvSpPr>
        <p:spPr>
          <a:xfrm>
            <a:off x="640080" y="1691640"/>
            <a:ext cx="7772400" cy="2148840"/>
          </a:xfrm>
          <a:prstGeom prst="roundRect">
            <a:avLst>
              <a:gd name="adj" fmla="val 5106"/>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6" name="Text 3"/>
          <p:cNvSpPr/>
          <p:nvPr/>
        </p:nvSpPr>
        <p:spPr>
          <a:xfrm>
            <a:off x="932688" y="1874520"/>
            <a:ext cx="4572000" cy="320040"/>
          </a:xfrm>
          <a:prstGeom prst="rect">
            <a:avLst/>
          </a:prstGeom>
          <a:noFill/>
          <a:ln/>
        </p:spPr>
        <p:txBody>
          <a:bodyPr wrap="square" lIns="0" tIns="0" rIns="0" bIns="0" rtlCol="0" anchor="ctr"/>
          <a:lstStyle/>
          <a:p>
            <a:pPr indent="0" marL="0">
              <a:buNone/>
            </a:pPr>
            <a:r>
              <a:rPr lang="en-US" sz="1900" b="1" dirty="0">
                <a:solidFill>
                  <a:srgbClr val="141438"/>
                </a:solidFill>
                <a:latin typeface="Cambria" pitchFamily="34" charset="0"/>
                <a:ea typeface="Cambria" pitchFamily="34" charset="-122"/>
                <a:cs typeface="Cambria" pitchFamily="34" charset="-120"/>
              </a:rPr>
              <a:t>Students will explore</a:t>
            </a:r>
            <a:endParaRPr lang="en-US" sz="1900" dirty="0"/>
          </a:p>
        </p:txBody>
      </p:sp>
      <p:sp>
        <p:nvSpPr>
          <p:cNvPr id="7" name="Text 4"/>
          <p:cNvSpPr/>
          <p:nvPr/>
        </p:nvSpPr>
        <p:spPr>
          <a:xfrm>
            <a:off x="932688" y="2286000"/>
            <a:ext cx="3566160" cy="1463040"/>
          </a:xfrm>
          <a:prstGeom prst="rect">
            <a:avLst/>
          </a:prstGeom>
          <a:noFill/>
          <a:ln/>
        </p:spPr>
        <p:txBody>
          <a:bodyPr wrap="square" lIns="0" tIns="0" rIns="0" bIns="0" rtlCol="0" anchor="t"/>
          <a:lstStyle/>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What is AI? — how machines "learn"</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Fun with everyday AI tools</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Creative storytelling with AI</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AI art and image creation</a:t>
            </a:r>
            <a:endParaRPr lang="en-US" sz="1300" dirty="0"/>
          </a:p>
        </p:txBody>
      </p:sp>
      <p:sp>
        <p:nvSpPr>
          <p:cNvPr id="8" name="Text 5"/>
          <p:cNvSpPr/>
          <p:nvPr/>
        </p:nvSpPr>
        <p:spPr>
          <a:xfrm>
            <a:off x="4709160" y="2286000"/>
            <a:ext cx="3566160" cy="1463040"/>
          </a:xfrm>
          <a:prstGeom prst="rect">
            <a:avLst/>
          </a:prstGeom>
          <a:noFill/>
          <a:ln/>
        </p:spPr>
        <p:txBody>
          <a:bodyPr wrap="square" lIns="0" tIns="0" rIns="0" bIns="0" rtlCol="0" anchor="t"/>
          <a:lstStyle/>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Building simple AI projects</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Digital citizenship and safety</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Team challenges and games</a:t>
            </a:r>
            <a:endParaRPr lang="en-US" sz="1300" dirty="0"/>
          </a:p>
        </p:txBody>
      </p:sp>
      <p:sp>
        <p:nvSpPr>
          <p:cNvPr id="9" name="Shape 6"/>
          <p:cNvSpPr/>
          <p:nvPr/>
        </p:nvSpPr>
        <p:spPr>
          <a:xfrm>
            <a:off x="640080" y="4041648"/>
            <a:ext cx="7772400" cy="1993392"/>
          </a:xfrm>
          <a:prstGeom prst="roundRect">
            <a:avLst>
              <a:gd name="adj" fmla="val 5505"/>
            </a:avLst>
          </a:prstGeom>
          <a:solidFill>
            <a:srgbClr val="241B5E"/>
          </a:solidFill>
          <a:ln w="12700">
            <a:solidFill>
              <a:srgbClr val="241B5E"/>
            </a:solidFill>
            <a:prstDash val="solid"/>
          </a:ln>
        </p:spPr>
      </p:sp>
      <p:sp>
        <p:nvSpPr>
          <p:cNvPr id="10" name="Text 7"/>
          <p:cNvSpPr/>
          <p:nvPr/>
        </p:nvSpPr>
        <p:spPr>
          <a:xfrm>
            <a:off x="932688" y="4224528"/>
            <a:ext cx="5486400" cy="3200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What it feels like in the room</a:t>
            </a:r>
            <a:endParaRPr lang="en-US" sz="1900" dirty="0"/>
          </a:p>
        </p:txBody>
      </p:sp>
      <p:sp>
        <p:nvSpPr>
          <p:cNvPr id="11" name="Text 8"/>
          <p:cNvSpPr/>
          <p:nvPr/>
        </p:nvSpPr>
        <p:spPr>
          <a:xfrm>
            <a:off x="932688" y="4617720"/>
            <a:ext cx="7223760" cy="1234440"/>
          </a:xfrm>
          <a:prstGeom prst="rect">
            <a:avLst/>
          </a:prstGeom>
          <a:noFill/>
          <a:ln/>
        </p:spPr>
        <p:txBody>
          <a:bodyPr wrap="square" lIns="0" tIns="0" rIns="0" bIns="0" rtlCol="0" anchor="ctr"/>
          <a:lstStyle/>
          <a:p>
            <a:pPr indent="0" marL="0">
              <a:lnSpc>
                <a:spcPts val="1900"/>
              </a:lnSpc>
              <a:buNone/>
            </a:pPr>
            <a:r>
              <a:rPr lang="en-US" sz="1350" dirty="0">
                <a:solidFill>
                  <a:srgbClr val="C9CCEA"/>
                </a:solidFill>
                <a:latin typeface="Calibri" pitchFamily="34" charset="0"/>
                <a:ea typeface="Calibri" pitchFamily="34" charset="-122"/>
                <a:cs typeface="Calibri" pitchFamily="34" charset="-120"/>
              </a:rPr>
              <a:t>Low-pressure and hands-on. Kids name what AI is good at and where it gets things wrong, make something they are proud to show a parent, and leave with language for talking about technology safely. No prior computer experience is assumed or required.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50" kern="0" dirty="0">
                <a:solidFill>
                  <a:srgbClr val="00A8B5"/>
                </a:solidFill>
                <a:latin typeface="Calibri" pitchFamily="34" charset="0"/>
                <a:ea typeface="Calibri" pitchFamily="34" charset="-122"/>
                <a:cs typeface="Calibri" pitchFamily="34" charset="-120"/>
              </a:rPr>
              <a:t>GRADES 6–8</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AI Builders — middle school</a:t>
            </a:r>
            <a:endParaRPr lang="en-US" sz="3800" dirty="0"/>
          </a:p>
        </p:txBody>
      </p:sp>
      <p:pic>
        <p:nvPicPr>
          <p:cNvPr id="4" name="Image 0" descr="preencoded.png">    </p:cNvPr>
          <p:cNvPicPr>
            <a:picLocks noChangeAspect="1"/>
          </p:cNvPicPr>
          <p:nvPr/>
        </p:nvPicPr>
        <p:blipFill>
          <a:blip r:embed="rId1"/>
          <a:stretch>
            <a:fillRect/>
          </a:stretch>
        </p:blipFill>
        <p:spPr>
          <a:xfrm>
            <a:off x="8732520" y="1691640"/>
            <a:ext cx="2834640" cy="3657600"/>
          </a:xfrm>
          <a:prstGeom prst="rect">
            <a:avLst/>
          </a:prstGeom>
        </p:spPr>
      </p:pic>
      <p:sp>
        <p:nvSpPr>
          <p:cNvPr id="5" name="Shape 2"/>
          <p:cNvSpPr/>
          <p:nvPr/>
        </p:nvSpPr>
        <p:spPr>
          <a:xfrm>
            <a:off x="640080" y="1691640"/>
            <a:ext cx="7772400" cy="2084832"/>
          </a:xfrm>
          <a:prstGeom prst="roundRect">
            <a:avLst>
              <a:gd name="adj" fmla="val 5263"/>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6" name="Text 3"/>
          <p:cNvSpPr/>
          <p:nvPr/>
        </p:nvSpPr>
        <p:spPr>
          <a:xfrm>
            <a:off x="932688" y="1874520"/>
            <a:ext cx="4572000" cy="320040"/>
          </a:xfrm>
          <a:prstGeom prst="rect">
            <a:avLst/>
          </a:prstGeom>
          <a:noFill/>
          <a:ln/>
        </p:spPr>
        <p:txBody>
          <a:bodyPr wrap="square" lIns="0" tIns="0" rIns="0" bIns="0" rtlCol="0" anchor="ctr"/>
          <a:lstStyle/>
          <a:p>
            <a:pPr indent="0" marL="0">
              <a:buNone/>
            </a:pPr>
            <a:r>
              <a:rPr lang="en-US" sz="1900" b="1" dirty="0">
                <a:solidFill>
                  <a:srgbClr val="141438"/>
                </a:solidFill>
                <a:latin typeface="Cambria" pitchFamily="34" charset="0"/>
                <a:ea typeface="Cambria" pitchFamily="34" charset="-122"/>
                <a:cs typeface="Cambria" pitchFamily="34" charset="-120"/>
              </a:rPr>
              <a:t>Students will learn</a:t>
            </a:r>
            <a:endParaRPr lang="en-US" sz="1900" dirty="0"/>
          </a:p>
        </p:txBody>
      </p:sp>
      <p:sp>
        <p:nvSpPr>
          <p:cNvPr id="7" name="Text 4"/>
          <p:cNvSpPr/>
          <p:nvPr/>
        </p:nvSpPr>
        <p:spPr>
          <a:xfrm>
            <a:off x="932688" y="2286000"/>
            <a:ext cx="3566160" cy="1645920"/>
          </a:xfrm>
          <a:prstGeom prst="rect">
            <a:avLst/>
          </a:prstGeom>
          <a:noFill/>
          <a:ln/>
        </p:spPr>
        <p:txBody>
          <a:bodyPr wrap="square" lIns="0" tIns="0" rIns="0" bIns="0" rtlCol="0" anchor="t"/>
          <a:lstStyle/>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AI fundamentals and how it works</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Machine learning basics</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Prompt engineering</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Python and block-based coding</a:t>
            </a:r>
            <a:endParaRPr lang="en-US" sz="1300" dirty="0"/>
          </a:p>
        </p:txBody>
      </p:sp>
      <p:sp>
        <p:nvSpPr>
          <p:cNvPr id="8" name="Text 5"/>
          <p:cNvSpPr/>
          <p:nvPr/>
        </p:nvSpPr>
        <p:spPr>
          <a:xfrm>
            <a:off x="4709160" y="2286000"/>
            <a:ext cx="3611880" cy="1645920"/>
          </a:xfrm>
          <a:prstGeom prst="rect">
            <a:avLst/>
          </a:prstGeom>
          <a:noFill/>
          <a:ln/>
        </p:spPr>
        <p:txBody>
          <a:bodyPr wrap="square" lIns="0" tIns="0" rIns="0" bIns="0" rtlCol="0" anchor="t"/>
          <a:lstStyle/>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Data and real-world applications</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AI ethics and digital responsibility</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Building AI projects that solve problems</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Collaborating, presenting and leading</a:t>
            </a:r>
            <a:endParaRPr lang="en-US" sz="1300" dirty="0"/>
          </a:p>
        </p:txBody>
      </p:sp>
      <p:sp>
        <p:nvSpPr>
          <p:cNvPr id="9" name="Shape 6"/>
          <p:cNvSpPr/>
          <p:nvPr/>
        </p:nvSpPr>
        <p:spPr>
          <a:xfrm>
            <a:off x="640080" y="4050792"/>
            <a:ext cx="7772400" cy="1984248"/>
          </a:xfrm>
          <a:prstGeom prst="roundRect">
            <a:avLst>
              <a:gd name="adj" fmla="val 5530"/>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0" name="Text 7"/>
          <p:cNvSpPr/>
          <p:nvPr/>
        </p:nvSpPr>
        <p:spPr>
          <a:xfrm>
            <a:off x="932688" y="4233672"/>
            <a:ext cx="4572000" cy="320040"/>
          </a:xfrm>
          <a:prstGeom prst="rect">
            <a:avLst/>
          </a:prstGeom>
          <a:noFill/>
          <a:ln/>
        </p:spPr>
        <p:txBody>
          <a:bodyPr wrap="square" lIns="0" tIns="0" rIns="0" bIns="0" rtlCol="0" anchor="ctr"/>
          <a:lstStyle/>
          <a:p>
            <a:pPr indent="0" marL="0">
              <a:buNone/>
            </a:pPr>
            <a:r>
              <a:rPr lang="en-US" sz="1900" b="1" dirty="0">
                <a:solidFill>
                  <a:srgbClr val="141438"/>
                </a:solidFill>
                <a:latin typeface="Cambria" pitchFamily="34" charset="0"/>
                <a:ea typeface="Cambria" pitchFamily="34" charset="-122"/>
                <a:cs typeface="Cambria" pitchFamily="34" charset="-120"/>
              </a:rPr>
              <a:t>Hands-on projects</a:t>
            </a:r>
            <a:endParaRPr lang="en-US" sz="1900" dirty="0"/>
          </a:p>
        </p:txBody>
      </p:sp>
      <p:sp>
        <p:nvSpPr>
          <p:cNvPr id="11" name="Text 8"/>
          <p:cNvSpPr/>
          <p:nvPr/>
        </p:nvSpPr>
        <p:spPr>
          <a:xfrm>
            <a:off x="932688" y="4645152"/>
            <a:ext cx="3566160" cy="1051560"/>
          </a:xfrm>
          <a:prstGeom prst="rect">
            <a:avLst/>
          </a:prstGeom>
          <a:noFill/>
          <a:ln/>
        </p:spPr>
        <p:txBody>
          <a:bodyPr wrap="square" lIns="0" tIns="0" rIns="0" bIns="0" rtlCol="0" anchor="t"/>
          <a:lstStyle/>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Train an AI image classifier</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Build a working chatbot</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AI-powered game design</a:t>
            </a:r>
            <a:endParaRPr lang="en-US" sz="1300" dirty="0"/>
          </a:p>
        </p:txBody>
      </p:sp>
      <p:sp>
        <p:nvSpPr>
          <p:cNvPr id="12" name="Text 9"/>
          <p:cNvSpPr/>
          <p:nvPr/>
        </p:nvSpPr>
        <p:spPr>
          <a:xfrm>
            <a:off x="4709160" y="4645152"/>
            <a:ext cx="3611880" cy="1051560"/>
          </a:xfrm>
          <a:prstGeom prst="rect">
            <a:avLst/>
          </a:prstGeom>
          <a:noFill/>
          <a:ln/>
        </p:spPr>
        <p:txBody>
          <a:bodyPr wrap="square" lIns="0" tIns="0" rIns="0" bIns="0" rtlCol="0" anchor="t"/>
          <a:lstStyle/>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Create a smart invention</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Analyze data and make predictions</a:t>
            </a:r>
            <a:endParaRPr lang="en-US" sz="1300" dirty="0"/>
          </a:p>
          <a:p>
            <a:pPr marL="342900" indent="-342900">
              <a:lnSpc>
                <a:spcPts val="1625"/>
              </a:lnSpc>
              <a:spcAft>
                <a:spcPts val="600"/>
              </a:spcAft>
              <a:buSzPct val="100000"/>
              <a:buChar char="▪"/>
            </a:pPr>
            <a:r>
              <a:rPr lang="en-US" sz="1300" dirty="0">
                <a:solidFill>
                  <a:srgbClr val="5B5B7A"/>
                </a:solidFill>
                <a:latin typeface="Calibri" pitchFamily="34" charset="0"/>
                <a:ea typeface="Calibri" pitchFamily="34" charset="-122"/>
                <a:cs typeface="Calibri" pitchFamily="34" charset="-120"/>
              </a:rPr>
              <a:t>Design a solution for your community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50" kern="0" dirty="0">
                <a:solidFill>
                  <a:srgbClr val="00A8B5"/>
                </a:solidFill>
                <a:latin typeface="Calibri" pitchFamily="34" charset="0"/>
                <a:ea typeface="Calibri" pitchFamily="34" charset="-122"/>
                <a:cs typeface="Calibri" pitchFamily="34" charset="-120"/>
              </a:rPr>
              <a:t>GRADES 9–12</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AI Builders — high school</a:t>
            </a:r>
            <a:endParaRPr lang="en-US" sz="3800" dirty="0"/>
          </a:p>
        </p:txBody>
      </p:sp>
      <p:pic>
        <p:nvPicPr>
          <p:cNvPr id="4" name="Image 0" descr="preencoded.png">    </p:cNvPr>
          <p:cNvPicPr>
            <a:picLocks noChangeAspect="1"/>
          </p:cNvPicPr>
          <p:nvPr/>
        </p:nvPicPr>
        <p:blipFill>
          <a:blip r:embed="rId1"/>
          <a:stretch>
            <a:fillRect/>
          </a:stretch>
        </p:blipFill>
        <p:spPr>
          <a:xfrm>
            <a:off x="8732520" y="1691640"/>
            <a:ext cx="2834640" cy="3657600"/>
          </a:xfrm>
          <a:prstGeom prst="rect">
            <a:avLst/>
          </a:prstGeom>
        </p:spPr>
      </p:pic>
      <p:sp>
        <p:nvSpPr>
          <p:cNvPr id="5" name="Shape 2"/>
          <p:cNvSpPr/>
          <p:nvPr/>
        </p:nvSpPr>
        <p:spPr>
          <a:xfrm>
            <a:off x="640080" y="1691640"/>
            <a:ext cx="7772400" cy="2304288"/>
          </a:xfrm>
          <a:prstGeom prst="roundRect">
            <a:avLst>
              <a:gd name="adj" fmla="val 4762"/>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6" name="Text 3"/>
          <p:cNvSpPr/>
          <p:nvPr/>
        </p:nvSpPr>
        <p:spPr>
          <a:xfrm>
            <a:off x="932688" y="1874520"/>
            <a:ext cx="4572000" cy="320040"/>
          </a:xfrm>
          <a:prstGeom prst="rect">
            <a:avLst/>
          </a:prstGeom>
          <a:noFill/>
          <a:ln/>
        </p:spPr>
        <p:txBody>
          <a:bodyPr wrap="square" lIns="0" tIns="0" rIns="0" bIns="0" rtlCol="0" anchor="ctr"/>
          <a:lstStyle/>
          <a:p>
            <a:pPr indent="0" marL="0">
              <a:buNone/>
            </a:pPr>
            <a:r>
              <a:rPr lang="en-US" sz="1900" b="1" dirty="0">
                <a:solidFill>
                  <a:srgbClr val="141438"/>
                </a:solidFill>
                <a:latin typeface="Cambria" pitchFamily="34" charset="0"/>
                <a:ea typeface="Cambria" pitchFamily="34" charset="-122"/>
                <a:cs typeface="Cambria" pitchFamily="34" charset="-120"/>
              </a:rPr>
              <a:t>Students will master</a:t>
            </a:r>
            <a:endParaRPr lang="en-US" sz="1900" dirty="0"/>
          </a:p>
        </p:txBody>
      </p:sp>
      <p:sp>
        <p:nvSpPr>
          <p:cNvPr id="7" name="Text 4"/>
          <p:cNvSpPr/>
          <p:nvPr/>
        </p:nvSpPr>
        <p:spPr>
          <a:xfrm>
            <a:off x="932688" y="2286000"/>
            <a:ext cx="3566160" cy="1828800"/>
          </a:xfrm>
          <a:prstGeom prst="rect">
            <a:avLst/>
          </a:prstGeom>
          <a:noFill/>
          <a:ln/>
        </p:spPr>
        <p:txBody>
          <a:bodyPr wrap="square" lIns="0" tIns="0" rIns="0" bIns="0" rtlCol="0" anchor="t"/>
          <a:lstStyle/>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AI fundamentals</a:t>
            </a:r>
            <a:endParaRPr lang="en-US" sz="1250" dirty="0"/>
          </a:p>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Python and advanced coding</a:t>
            </a:r>
            <a:endParaRPr lang="en-US" sz="1250" dirty="0"/>
          </a:p>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Machine learning and data science</a:t>
            </a:r>
            <a:endParaRPr lang="en-US" sz="1250" dirty="0"/>
          </a:p>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Prompt engineering</a:t>
            </a:r>
            <a:endParaRPr lang="en-US" sz="1250" dirty="0"/>
          </a:p>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AI ethics, bias and responsibility</a:t>
            </a:r>
            <a:endParaRPr lang="en-US" sz="1250" dirty="0"/>
          </a:p>
        </p:txBody>
      </p:sp>
      <p:sp>
        <p:nvSpPr>
          <p:cNvPr id="8" name="Text 5"/>
          <p:cNvSpPr/>
          <p:nvPr/>
        </p:nvSpPr>
        <p:spPr>
          <a:xfrm>
            <a:off x="4709160" y="2286000"/>
            <a:ext cx="3611880" cy="1828800"/>
          </a:xfrm>
          <a:prstGeom prst="rect">
            <a:avLst/>
          </a:prstGeom>
          <a:noFill/>
          <a:ln/>
        </p:spPr>
        <p:txBody>
          <a:bodyPr wrap="square" lIns="0" tIns="0" rIns="0" bIns="0" rtlCol="0" anchor="t"/>
          <a:lstStyle/>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Building AI-powered apps and websites</a:t>
            </a:r>
            <a:endParaRPr lang="en-US" sz="1250" dirty="0"/>
          </a:p>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Data analysis and visualization</a:t>
            </a:r>
            <a:endParaRPr lang="en-US" sz="1250" dirty="0"/>
          </a:p>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Capstone project and presentation</a:t>
            </a:r>
            <a:endParaRPr lang="en-US" sz="1250" dirty="0"/>
          </a:p>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College and career pathways in AI</a:t>
            </a:r>
            <a:endParaRPr lang="en-US" sz="1250" dirty="0"/>
          </a:p>
        </p:txBody>
      </p:sp>
      <p:sp>
        <p:nvSpPr>
          <p:cNvPr id="9" name="Shape 6"/>
          <p:cNvSpPr/>
          <p:nvPr/>
        </p:nvSpPr>
        <p:spPr>
          <a:xfrm>
            <a:off x="640080" y="4224528"/>
            <a:ext cx="7772400" cy="1810512"/>
          </a:xfrm>
          <a:prstGeom prst="roundRect">
            <a:avLst>
              <a:gd name="adj" fmla="val 6061"/>
            </a:avLst>
          </a:prstGeom>
          <a:solidFill>
            <a:srgbClr val="241B5E"/>
          </a:solidFill>
          <a:ln w="12700">
            <a:solidFill>
              <a:srgbClr val="241B5E"/>
            </a:solidFill>
            <a:prstDash val="solid"/>
          </a:ln>
        </p:spPr>
      </p:sp>
      <p:sp>
        <p:nvSpPr>
          <p:cNvPr id="10" name="Text 7"/>
          <p:cNvSpPr/>
          <p:nvPr/>
        </p:nvSpPr>
        <p:spPr>
          <a:xfrm>
            <a:off x="932688" y="4407408"/>
            <a:ext cx="4572000" cy="3200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The capstone</a:t>
            </a:r>
            <a:endParaRPr lang="en-US" sz="1900" dirty="0"/>
          </a:p>
        </p:txBody>
      </p:sp>
      <p:sp>
        <p:nvSpPr>
          <p:cNvPr id="11" name="Text 8"/>
          <p:cNvSpPr/>
          <p:nvPr/>
        </p:nvSpPr>
        <p:spPr>
          <a:xfrm>
            <a:off x="932688" y="4800600"/>
            <a:ext cx="7223760" cy="1051560"/>
          </a:xfrm>
          <a:prstGeom prst="rect">
            <a:avLst/>
          </a:prstGeom>
          <a:noFill/>
          <a:ln/>
        </p:spPr>
        <p:txBody>
          <a:bodyPr wrap="square" lIns="0" tIns="0" rIns="0" bIns="0" rtlCol="0" anchor="ctr"/>
          <a:lstStyle/>
          <a:p>
            <a:pPr indent="0" marL="0">
              <a:lnSpc>
                <a:spcPts val="1800"/>
              </a:lnSpc>
              <a:buNone/>
            </a:pPr>
            <a:r>
              <a:rPr lang="en-US" sz="1300" dirty="0">
                <a:solidFill>
                  <a:srgbClr val="C9CCEA"/>
                </a:solidFill>
                <a:latin typeface="Calibri" pitchFamily="34" charset="0"/>
                <a:ea typeface="Calibri" pitchFamily="34" charset="-122"/>
                <a:cs typeface="Calibri" pitchFamily="34" charset="-120"/>
              </a:rPr>
              <a:t>Each student ships one real project — a chatbot, a computer-vision tool, a predictive model, an AI-powered app, or an AI-for-social-good solution — and presents it at a public showcase for families and community partners.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50" kern="0" dirty="0">
                <a:solidFill>
                  <a:srgbClr val="00A8B5"/>
                </a:solidFill>
                <a:latin typeface="Calibri" pitchFamily="34" charset="0"/>
                <a:ea typeface="Calibri" pitchFamily="34" charset="-122"/>
                <a:cs typeface="Calibri" pitchFamily="34" charset="-120"/>
              </a:rPr>
              <a:t>PARTNERSHIP</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What we provide your school</a:t>
            </a:r>
            <a:endParaRPr lang="en-US" sz="3800" dirty="0"/>
          </a:p>
        </p:txBody>
      </p:sp>
      <p:sp>
        <p:nvSpPr>
          <p:cNvPr id="4" name="Shape 2"/>
          <p:cNvSpPr/>
          <p:nvPr/>
        </p:nvSpPr>
        <p:spPr>
          <a:xfrm>
            <a:off x="640080" y="1691640"/>
            <a:ext cx="2521458" cy="1874520"/>
          </a:xfrm>
          <a:prstGeom prst="roundRect">
            <a:avLst>
              <a:gd name="adj" fmla="val 5854"/>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5" name="Shape 3"/>
          <p:cNvSpPr/>
          <p:nvPr/>
        </p:nvSpPr>
        <p:spPr>
          <a:xfrm>
            <a:off x="868680" y="1892808"/>
            <a:ext cx="548640" cy="548640"/>
          </a:xfrm>
          <a:prstGeom prst="ellipse">
            <a:avLst/>
          </a:prstGeom>
          <a:solidFill>
            <a:srgbClr val="3B2E8F"/>
          </a:solidFill>
          <a:ln/>
        </p:spPr>
      </p:sp>
      <p:pic>
        <p:nvPicPr>
          <p:cNvPr id="6" name="Image 0" descr="preencoded.png">    </p:cNvPr>
          <p:cNvPicPr>
            <a:picLocks noChangeAspect="1"/>
          </p:cNvPicPr>
          <p:nvPr/>
        </p:nvPicPr>
        <p:blipFill>
          <a:blip r:embed="rId1"/>
          <a:stretch>
            <a:fillRect/>
          </a:stretch>
        </p:blipFill>
        <p:spPr>
          <a:xfrm>
            <a:off x="1011326" y="2035454"/>
            <a:ext cx="263347" cy="263347"/>
          </a:xfrm>
          <a:prstGeom prst="rect">
            <a:avLst/>
          </a:prstGeom>
        </p:spPr>
      </p:pic>
      <p:sp>
        <p:nvSpPr>
          <p:cNvPr id="7" name="Text 4"/>
          <p:cNvSpPr/>
          <p:nvPr/>
        </p:nvSpPr>
        <p:spPr>
          <a:xfrm>
            <a:off x="868680" y="2532888"/>
            <a:ext cx="2066544" cy="292608"/>
          </a:xfrm>
          <a:prstGeom prst="rect">
            <a:avLst/>
          </a:prstGeom>
          <a:noFill/>
          <a:ln/>
        </p:spPr>
        <p:txBody>
          <a:bodyPr wrap="square" lIns="0" tIns="0" rIns="0" bIns="0" rtlCol="0" anchor="ctr"/>
          <a:lstStyle/>
          <a:p>
            <a:pPr indent="0" marL="0">
              <a:buNone/>
            </a:pPr>
            <a:r>
              <a:rPr lang="en-US" sz="1450" b="1" dirty="0">
                <a:solidFill>
                  <a:srgbClr val="141438"/>
                </a:solidFill>
                <a:latin typeface="Cambria" pitchFamily="34" charset="0"/>
                <a:ea typeface="Cambria" pitchFamily="34" charset="-122"/>
                <a:cs typeface="Cambria" pitchFamily="34" charset="-120"/>
              </a:rPr>
              <a:t>Curriculum &amp; projects</a:t>
            </a:r>
            <a:endParaRPr lang="en-US" sz="1450" dirty="0"/>
          </a:p>
        </p:txBody>
      </p:sp>
      <p:sp>
        <p:nvSpPr>
          <p:cNvPr id="8" name="Text 5"/>
          <p:cNvSpPr/>
          <p:nvPr/>
        </p:nvSpPr>
        <p:spPr>
          <a:xfrm>
            <a:off x="868680" y="2825496"/>
            <a:ext cx="2066544" cy="658368"/>
          </a:xfrm>
          <a:prstGeom prst="rect">
            <a:avLst/>
          </a:prstGeom>
          <a:noFill/>
          <a:ln/>
        </p:spPr>
        <p:txBody>
          <a:bodyPr wrap="square" lIns="0" tIns="0" rIns="0" bIns="0" rtlCol="0" anchor="ctr"/>
          <a:lstStyle/>
          <a:p>
            <a:pPr indent="0" marL="0">
              <a:lnSpc>
                <a:spcPts val="1400"/>
              </a:lnSpc>
              <a:buNone/>
            </a:pPr>
            <a:r>
              <a:rPr lang="en-US" sz="1100" dirty="0">
                <a:solidFill>
                  <a:srgbClr val="5B5B7A"/>
                </a:solidFill>
                <a:latin typeface="Calibri" pitchFamily="34" charset="0"/>
                <a:ea typeface="Calibri" pitchFamily="34" charset="-122"/>
                <a:cs typeface="Calibri" pitchFamily="34" charset="-120"/>
              </a:rPr>
              <a:t>Complete six-week scope and sequence, lesson plans, and all project materials.</a:t>
            </a:r>
            <a:endParaRPr lang="en-US" sz="1100" dirty="0"/>
          </a:p>
        </p:txBody>
      </p:sp>
      <p:sp>
        <p:nvSpPr>
          <p:cNvPr id="9" name="Shape 6"/>
          <p:cNvSpPr/>
          <p:nvPr/>
        </p:nvSpPr>
        <p:spPr>
          <a:xfrm>
            <a:off x="3435858" y="1691640"/>
            <a:ext cx="2521458" cy="1874520"/>
          </a:xfrm>
          <a:prstGeom prst="roundRect">
            <a:avLst>
              <a:gd name="adj" fmla="val 5854"/>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0" name="Shape 7"/>
          <p:cNvSpPr/>
          <p:nvPr/>
        </p:nvSpPr>
        <p:spPr>
          <a:xfrm>
            <a:off x="3664458" y="1892808"/>
            <a:ext cx="548640" cy="548640"/>
          </a:xfrm>
          <a:prstGeom prst="ellipse">
            <a:avLst/>
          </a:prstGeom>
          <a:solidFill>
            <a:srgbClr val="00A8B5"/>
          </a:solidFill>
          <a:ln/>
        </p:spPr>
      </p:sp>
      <p:pic>
        <p:nvPicPr>
          <p:cNvPr id="11" name="Image 1" descr="preencoded.png">    </p:cNvPr>
          <p:cNvPicPr>
            <a:picLocks noChangeAspect="1"/>
          </p:cNvPicPr>
          <p:nvPr/>
        </p:nvPicPr>
        <p:blipFill>
          <a:blip r:embed="rId2"/>
          <a:stretch>
            <a:fillRect/>
          </a:stretch>
        </p:blipFill>
        <p:spPr>
          <a:xfrm>
            <a:off x="3807104" y="2035454"/>
            <a:ext cx="263347" cy="263347"/>
          </a:xfrm>
          <a:prstGeom prst="rect">
            <a:avLst/>
          </a:prstGeom>
        </p:spPr>
      </p:pic>
      <p:sp>
        <p:nvSpPr>
          <p:cNvPr id="12" name="Text 8"/>
          <p:cNvSpPr/>
          <p:nvPr/>
        </p:nvSpPr>
        <p:spPr>
          <a:xfrm>
            <a:off x="3664458" y="2532888"/>
            <a:ext cx="2066544" cy="292608"/>
          </a:xfrm>
          <a:prstGeom prst="rect">
            <a:avLst/>
          </a:prstGeom>
          <a:noFill/>
          <a:ln/>
        </p:spPr>
        <p:txBody>
          <a:bodyPr wrap="square" lIns="0" tIns="0" rIns="0" bIns="0" rtlCol="0" anchor="ctr"/>
          <a:lstStyle/>
          <a:p>
            <a:pPr indent="0" marL="0">
              <a:buNone/>
            </a:pPr>
            <a:r>
              <a:rPr lang="en-US" sz="1450" b="1" dirty="0">
                <a:solidFill>
                  <a:srgbClr val="141438"/>
                </a:solidFill>
                <a:latin typeface="Cambria" pitchFamily="34" charset="0"/>
                <a:ea typeface="Cambria" pitchFamily="34" charset="-122"/>
                <a:cs typeface="Cambria" pitchFamily="34" charset="-120"/>
              </a:rPr>
              <a:t>Instructors</a:t>
            </a:r>
            <a:endParaRPr lang="en-US" sz="1450" dirty="0"/>
          </a:p>
        </p:txBody>
      </p:sp>
      <p:sp>
        <p:nvSpPr>
          <p:cNvPr id="13" name="Text 9"/>
          <p:cNvSpPr/>
          <p:nvPr/>
        </p:nvSpPr>
        <p:spPr>
          <a:xfrm>
            <a:off x="3664458" y="2825496"/>
            <a:ext cx="2066544" cy="658368"/>
          </a:xfrm>
          <a:prstGeom prst="rect">
            <a:avLst/>
          </a:prstGeom>
          <a:noFill/>
          <a:ln/>
        </p:spPr>
        <p:txBody>
          <a:bodyPr wrap="square" lIns="0" tIns="0" rIns="0" bIns="0" rtlCol="0" anchor="ctr"/>
          <a:lstStyle/>
          <a:p>
            <a:pPr indent="0" marL="0">
              <a:lnSpc>
                <a:spcPts val="1400"/>
              </a:lnSpc>
              <a:buNone/>
            </a:pPr>
            <a:r>
              <a:rPr lang="en-US" sz="1100" dirty="0">
                <a:solidFill>
                  <a:srgbClr val="5B5B7A"/>
                </a:solidFill>
                <a:latin typeface="Calibri" pitchFamily="34" charset="0"/>
                <a:ea typeface="Calibri" pitchFamily="34" charset="-122"/>
                <a:cs typeface="Calibri" pitchFamily="34" charset="-120"/>
              </a:rPr>
              <a:t>Trained, vetted instructors who run the sessions. Your staff do not teach the content.</a:t>
            </a:r>
            <a:endParaRPr lang="en-US" sz="1100" dirty="0"/>
          </a:p>
        </p:txBody>
      </p:sp>
      <p:sp>
        <p:nvSpPr>
          <p:cNvPr id="14" name="Shape 10"/>
          <p:cNvSpPr/>
          <p:nvPr/>
        </p:nvSpPr>
        <p:spPr>
          <a:xfrm>
            <a:off x="6231636" y="1691640"/>
            <a:ext cx="2521458" cy="1874520"/>
          </a:xfrm>
          <a:prstGeom prst="roundRect">
            <a:avLst>
              <a:gd name="adj" fmla="val 5854"/>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5" name="Shape 11"/>
          <p:cNvSpPr/>
          <p:nvPr/>
        </p:nvSpPr>
        <p:spPr>
          <a:xfrm>
            <a:off x="6460236" y="1892808"/>
            <a:ext cx="548640" cy="548640"/>
          </a:xfrm>
          <a:prstGeom prst="ellipse">
            <a:avLst/>
          </a:prstGeom>
          <a:solidFill>
            <a:srgbClr val="FF7A29"/>
          </a:solidFill>
          <a:ln/>
        </p:spPr>
      </p:sp>
      <p:pic>
        <p:nvPicPr>
          <p:cNvPr id="16" name="Image 2" descr="preencoded.png">    </p:cNvPr>
          <p:cNvPicPr>
            <a:picLocks noChangeAspect="1"/>
          </p:cNvPicPr>
          <p:nvPr/>
        </p:nvPicPr>
        <p:blipFill>
          <a:blip r:embed="rId3"/>
          <a:stretch>
            <a:fillRect/>
          </a:stretch>
        </p:blipFill>
        <p:spPr>
          <a:xfrm>
            <a:off x="6602882" y="2035454"/>
            <a:ext cx="263347" cy="263347"/>
          </a:xfrm>
          <a:prstGeom prst="rect">
            <a:avLst/>
          </a:prstGeom>
        </p:spPr>
      </p:pic>
      <p:sp>
        <p:nvSpPr>
          <p:cNvPr id="17" name="Text 12"/>
          <p:cNvSpPr/>
          <p:nvPr/>
        </p:nvSpPr>
        <p:spPr>
          <a:xfrm>
            <a:off x="6460236" y="2532888"/>
            <a:ext cx="2066544" cy="292608"/>
          </a:xfrm>
          <a:prstGeom prst="rect">
            <a:avLst/>
          </a:prstGeom>
          <a:noFill/>
          <a:ln/>
        </p:spPr>
        <p:txBody>
          <a:bodyPr wrap="square" lIns="0" tIns="0" rIns="0" bIns="0" rtlCol="0" anchor="ctr"/>
          <a:lstStyle/>
          <a:p>
            <a:pPr indent="0" marL="0">
              <a:buNone/>
            </a:pPr>
            <a:r>
              <a:rPr lang="en-US" sz="1450" b="1" dirty="0">
                <a:solidFill>
                  <a:srgbClr val="141438"/>
                </a:solidFill>
                <a:latin typeface="Cambria" pitchFamily="34" charset="0"/>
                <a:ea typeface="Cambria" pitchFamily="34" charset="-122"/>
                <a:cs typeface="Cambria" pitchFamily="34" charset="-120"/>
              </a:rPr>
              <a:t>Insurance</a:t>
            </a:r>
            <a:endParaRPr lang="en-US" sz="1450" dirty="0"/>
          </a:p>
        </p:txBody>
      </p:sp>
      <p:sp>
        <p:nvSpPr>
          <p:cNvPr id="18" name="Text 13"/>
          <p:cNvSpPr/>
          <p:nvPr/>
        </p:nvSpPr>
        <p:spPr>
          <a:xfrm>
            <a:off x="6460236" y="2825496"/>
            <a:ext cx="2066544" cy="658368"/>
          </a:xfrm>
          <a:prstGeom prst="rect">
            <a:avLst/>
          </a:prstGeom>
          <a:noFill/>
          <a:ln/>
        </p:spPr>
        <p:txBody>
          <a:bodyPr wrap="square" lIns="0" tIns="0" rIns="0" bIns="0" rtlCol="0" anchor="ctr"/>
          <a:lstStyle/>
          <a:p>
            <a:pPr indent="0" marL="0">
              <a:lnSpc>
                <a:spcPts val="1400"/>
              </a:lnSpc>
              <a:buNone/>
            </a:pPr>
            <a:r>
              <a:rPr lang="en-US" sz="1100" dirty="0">
                <a:solidFill>
                  <a:srgbClr val="5B5B7A"/>
                </a:solidFill>
                <a:latin typeface="Calibri" pitchFamily="34" charset="0"/>
                <a:ea typeface="Calibri" pitchFamily="34" charset="-122"/>
                <a:cs typeface="Calibri" pitchFamily="34" charset="-120"/>
              </a:rPr>
              <a:t>We carry our own coverage for the program. Certificates provided on request.</a:t>
            </a:r>
            <a:endParaRPr lang="en-US" sz="1100" dirty="0"/>
          </a:p>
        </p:txBody>
      </p:sp>
      <p:sp>
        <p:nvSpPr>
          <p:cNvPr id="19" name="Shape 14"/>
          <p:cNvSpPr/>
          <p:nvPr/>
        </p:nvSpPr>
        <p:spPr>
          <a:xfrm>
            <a:off x="9027414" y="1691640"/>
            <a:ext cx="2521458" cy="1874520"/>
          </a:xfrm>
          <a:prstGeom prst="roundRect">
            <a:avLst>
              <a:gd name="adj" fmla="val 5854"/>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20" name="Shape 15"/>
          <p:cNvSpPr/>
          <p:nvPr/>
        </p:nvSpPr>
        <p:spPr>
          <a:xfrm>
            <a:off x="9256014" y="1892808"/>
            <a:ext cx="548640" cy="548640"/>
          </a:xfrm>
          <a:prstGeom prst="ellipse">
            <a:avLst/>
          </a:prstGeom>
          <a:solidFill>
            <a:srgbClr val="3B2E8F"/>
          </a:solidFill>
          <a:ln/>
        </p:spPr>
      </p:sp>
      <p:pic>
        <p:nvPicPr>
          <p:cNvPr id="21" name="Image 3" descr="preencoded.png">    </p:cNvPr>
          <p:cNvPicPr>
            <a:picLocks noChangeAspect="1"/>
          </p:cNvPicPr>
          <p:nvPr/>
        </p:nvPicPr>
        <p:blipFill>
          <a:blip r:embed="rId4"/>
          <a:stretch>
            <a:fillRect/>
          </a:stretch>
        </p:blipFill>
        <p:spPr>
          <a:xfrm>
            <a:off x="9398660" y="2035454"/>
            <a:ext cx="263347" cy="263347"/>
          </a:xfrm>
          <a:prstGeom prst="rect">
            <a:avLst/>
          </a:prstGeom>
        </p:spPr>
      </p:pic>
      <p:sp>
        <p:nvSpPr>
          <p:cNvPr id="22" name="Text 16"/>
          <p:cNvSpPr/>
          <p:nvPr/>
        </p:nvSpPr>
        <p:spPr>
          <a:xfrm>
            <a:off x="9256014" y="2532888"/>
            <a:ext cx="2066544" cy="292608"/>
          </a:xfrm>
          <a:prstGeom prst="rect">
            <a:avLst/>
          </a:prstGeom>
          <a:noFill/>
          <a:ln/>
        </p:spPr>
        <p:txBody>
          <a:bodyPr wrap="square" lIns="0" tIns="0" rIns="0" bIns="0" rtlCol="0" anchor="ctr"/>
          <a:lstStyle/>
          <a:p>
            <a:pPr indent="0" marL="0">
              <a:buNone/>
            </a:pPr>
            <a:r>
              <a:rPr lang="en-US" sz="1450" b="1" dirty="0">
                <a:solidFill>
                  <a:srgbClr val="141438"/>
                </a:solidFill>
                <a:latin typeface="Cambria" pitchFamily="34" charset="0"/>
                <a:ea typeface="Cambria" pitchFamily="34" charset="-122"/>
                <a:cs typeface="Cambria" pitchFamily="34" charset="-120"/>
              </a:rPr>
              <a:t>Registration support</a:t>
            </a:r>
            <a:endParaRPr lang="en-US" sz="1450" dirty="0"/>
          </a:p>
        </p:txBody>
      </p:sp>
      <p:sp>
        <p:nvSpPr>
          <p:cNvPr id="23" name="Text 17"/>
          <p:cNvSpPr/>
          <p:nvPr/>
        </p:nvSpPr>
        <p:spPr>
          <a:xfrm>
            <a:off x="9256014" y="2825496"/>
            <a:ext cx="2066544" cy="658368"/>
          </a:xfrm>
          <a:prstGeom prst="rect">
            <a:avLst/>
          </a:prstGeom>
          <a:noFill/>
          <a:ln/>
        </p:spPr>
        <p:txBody>
          <a:bodyPr wrap="square" lIns="0" tIns="0" rIns="0" bIns="0" rtlCol="0" anchor="ctr"/>
          <a:lstStyle/>
          <a:p>
            <a:pPr indent="0" marL="0">
              <a:lnSpc>
                <a:spcPts val="1400"/>
              </a:lnSpc>
              <a:buNone/>
            </a:pPr>
            <a:r>
              <a:rPr lang="en-US" sz="1100" dirty="0">
                <a:solidFill>
                  <a:srgbClr val="5B5B7A"/>
                </a:solidFill>
                <a:latin typeface="Calibri" pitchFamily="34" charset="0"/>
                <a:ea typeface="Calibri" pitchFamily="34" charset="-122"/>
                <a:cs typeface="Calibri" pitchFamily="34" charset="-120"/>
              </a:rPr>
              <a:t>Enrollment, rosters, payment processing and waitlists are handled by us.</a:t>
            </a:r>
            <a:endParaRPr lang="en-US" sz="1100" dirty="0"/>
          </a:p>
        </p:txBody>
      </p:sp>
      <p:sp>
        <p:nvSpPr>
          <p:cNvPr id="24" name="Shape 18"/>
          <p:cNvSpPr/>
          <p:nvPr/>
        </p:nvSpPr>
        <p:spPr>
          <a:xfrm>
            <a:off x="640080" y="3822192"/>
            <a:ext cx="2521458" cy="1874520"/>
          </a:xfrm>
          <a:prstGeom prst="roundRect">
            <a:avLst>
              <a:gd name="adj" fmla="val 5854"/>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25" name="Shape 19"/>
          <p:cNvSpPr/>
          <p:nvPr/>
        </p:nvSpPr>
        <p:spPr>
          <a:xfrm>
            <a:off x="868680" y="4023360"/>
            <a:ext cx="548640" cy="548640"/>
          </a:xfrm>
          <a:prstGeom prst="ellipse">
            <a:avLst/>
          </a:prstGeom>
          <a:solidFill>
            <a:srgbClr val="3B2E8F"/>
          </a:solidFill>
          <a:ln/>
        </p:spPr>
      </p:sp>
      <p:pic>
        <p:nvPicPr>
          <p:cNvPr id="26" name="Image 4" descr="preencoded.png">    </p:cNvPr>
          <p:cNvPicPr>
            <a:picLocks noChangeAspect="1"/>
          </p:cNvPicPr>
          <p:nvPr/>
        </p:nvPicPr>
        <p:blipFill>
          <a:blip r:embed="rId5"/>
          <a:stretch>
            <a:fillRect/>
          </a:stretch>
        </p:blipFill>
        <p:spPr>
          <a:xfrm>
            <a:off x="1011326" y="4166006"/>
            <a:ext cx="263347" cy="263347"/>
          </a:xfrm>
          <a:prstGeom prst="rect">
            <a:avLst/>
          </a:prstGeom>
        </p:spPr>
      </p:pic>
      <p:sp>
        <p:nvSpPr>
          <p:cNvPr id="27" name="Text 20"/>
          <p:cNvSpPr/>
          <p:nvPr/>
        </p:nvSpPr>
        <p:spPr>
          <a:xfrm>
            <a:off x="868680" y="4663440"/>
            <a:ext cx="2066544" cy="292608"/>
          </a:xfrm>
          <a:prstGeom prst="rect">
            <a:avLst/>
          </a:prstGeom>
          <a:noFill/>
          <a:ln/>
        </p:spPr>
        <p:txBody>
          <a:bodyPr wrap="square" lIns="0" tIns="0" rIns="0" bIns="0" rtlCol="0" anchor="ctr"/>
          <a:lstStyle/>
          <a:p>
            <a:pPr indent="0" marL="0">
              <a:buNone/>
            </a:pPr>
            <a:r>
              <a:rPr lang="en-US" sz="1450" b="1" dirty="0">
                <a:solidFill>
                  <a:srgbClr val="141438"/>
                </a:solidFill>
                <a:latin typeface="Cambria" pitchFamily="34" charset="0"/>
                <a:ea typeface="Cambria" pitchFamily="34" charset="-122"/>
                <a:cs typeface="Cambria" pitchFamily="34" charset="-120"/>
              </a:rPr>
              <a:t>Marketing materials</a:t>
            </a:r>
            <a:endParaRPr lang="en-US" sz="1450" dirty="0"/>
          </a:p>
        </p:txBody>
      </p:sp>
      <p:sp>
        <p:nvSpPr>
          <p:cNvPr id="28" name="Text 21"/>
          <p:cNvSpPr/>
          <p:nvPr/>
        </p:nvSpPr>
        <p:spPr>
          <a:xfrm>
            <a:off x="868680" y="4956048"/>
            <a:ext cx="2066544" cy="658368"/>
          </a:xfrm>
          <a:prstGeom prst="rect">
            <a:avLst/>
          </a:prstGeom>
          <a:noFill/>
          <a:ln/>
        </p:spPr>
        <p:txBody>
          <a:bodyPr wrap="square" lIns="0" tIns="0" rIns="0" bIns="0" rtlCol="0" anchor="ctr"/>
          <a:lstStyle/>
          <a:p>
            <a:pPr indent="0" marL="0">
              <a:lnSpc>
                <a:spcPts val="1400"/>
              </a:lnSpc>
              <a:buNone/>
            </a:pPr>
            <a:r>
              <a:rPr lang="en-US" sz="1100" dirty="0">
                <a:solidFill>
                  <a:srgbClr val="5B5B7A"/>
                </a:solidFill>
                <a:latin typeface="Calibri" pitchFamily="34" charset="0"/>
                <a:ea typeface="Calibri" pitchFamily="34" charset="-122"/>
                <a:cs typeface="Calibri" pitchFamily="34" charset="-120"/>
              </a:rPr>
              <a:t>Grade-specific flyers, digital assets and family-facing copy, co-branded with your school.</a:t>
            </a:r>
            <a:endParaRPr lang="en-US" sz="1100" dirty="0"/>
          </a:p>
        </p:txBody>
      </p:sp>
      <p:sp>
        <p:nvSpPr>
          <p:cNvPr id="29" name="Shape 22"/>
          <p:cNvSpPr/>
          <p:nvPr/>
        </p:nvSpPr>
        <p:spPr>
          <a:xfrm>
            <a:off x="3435858" y="3822192"/>
            <a:ext cx="2521458" cy="1874520"/>
          </a:xfrm>
          <a:prstGeom prst="roundRect">
            <a:avLst>
              <a:gd name="adj" fmla="val 5854"/>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30" name="Shape 23"/>
          <p:cNvSpPr/>
          <p:nvPr/>
        </p:nvSpPr>
        <p:spPr>
          <a:xfrm>
            <a:off x="3664458" y="4023360"/>
            <a:ext cx="548640" cy="548640"/>
          </a:xfrm>
          <a:prstGeom prst="ellipse">
            <a:avLst/>
          </a:prstGeom>
          <a:solidFill>
            <a:srgbClr val="00A8B5"/>
          </a:solidFill>
          <a:ln/>
        </p:spPr>
      </p:sp>
      <p:pic>
        <p:nvPicPr>
          <p:cNvPr id="31" name="Image 5" descr="preencoded.png">    </p:cNvPr>
          <p:cNvPicPr>
            <a:picLocks noChangeAspect="1"/>
          </p:cNvPicPr>
          <p:nvPr/>
        </p:nvPicPr>
        <p:blipFill>
          <a:blip r:embed="rId6"/>
          <a:stretch>
            <a:fillRect/>
          </a:stretch>
        </p:blipFill>
        <p:spPr>
          <a:xfrm>
            <a:off x="3807104" y="4166006"/>
            <a:ext cx="263347" cy="263347"/>
          </a:xfrm>
          <a:prstGeom prst="rect">
            <a:avLst/>
          </a:prstGeom>
        </p:spPr>
      </p:pic>
      <p:sp>
        <p:nvSpPr>
          <p:cNvPr id="32" name="Text 24"/>
          <p:cNvSpPr/>
          <p:nvPr/>
        </p:nvSpPr>
        <p:spPr>
          <a:xfrm>
            <a:off x="3664458" y="4663440"/>
            <a:ext cx="2066544" cy="292608"/>
          </a:xfrm>
          <a:prstGeom prst="rect">
            <a:avLst/>
          </a:prstGeom>
          <a:noFill/>
          <a:ln/>
        </p:spPr>
        <p:txBody>
          <a:bodyPr wrap="square" lIns="0" tIns="0" rIns="0" bIns="0" rtlCol="0" anchor="ctr"/>
          <a:lstStyle/>
          <a:p>
            <a:pPr indent="0" marL="0">
              <a:buNone/>
            </a:pPr>
            <a:r>
              <a:rPr lang="en-US" sz="1450" b="1" dirty="0">
                <a:solidFill>
                  <a:srgbClr val="141438"/>
                </a:solidFill>
                <a:latin typeface="Cambria" pitchFamily="34" charset="0"/>
                <a:ea typeface="Cambria" pitchFamily="34" charset="-122"/>
                <a:cs typeface="Cambria" pitchFamily="34" charset="-120"/>
              </a:rPr>
              <a:t>Parent communication</a:t>
            </a:r>
            <a:endParaRPr lang="en-US" sz="1450" dirty="0"/>
          </a:p>
        </p:txBody>
      </p:sp>
      <p:sp>
        <p:nvSpPr>
          <p:cNvPr id="33" name="Text 25"/>
          <p:cNvSpPr/>
          <p:nvPr/>
        </p:nvSpPr>
        <p:spPr>
          <a:xfrm>
            <a:off x="3664458" y="4956048"/>
            <a:ext cx="2066544" cy="658368"/>
          </a:xfrm>
          <a:prstGeom prst="rect">
            <a:avLst/>
          </a:prstGeom>
          <a:noFill/>
          <a:ln/>
        </p:spPr>
        <p:txBody>
          <a:bodyPr wrap="square" lIns="0" tIns="0" rIns="0" bIns="0" rtlCol="0" anchor="ctr"/>
          <a:lstStyle/>
          <a:p>
            <a:pPr indent="0" marL="0">
              <a:lnSpc>
                <a:spcPts val="1400"/>
              </a:lnSpc>
              <a:buNone/>
            </a:pPr>
            <a:r>
              <a:rPr lang="en-US" sz="1100" dirty="0">
                <a:solidFill>
                  <a:srgbClr val="5B5B7A"/>
                </a:solidFill>
                <a:latin typeface="Calibri" pitchFamily="34" charset="0"/>
                <a:ea typeface="Calibri" pitchFamily="34" charset="-122"/>
                <a:cs typeface="Calibri" pitchFamily="34" charset="-120"/>
              </a:rPr>
              <a:t>Welcome letters, weekly updates, and a direct line for family questions.</a:t>
            </a:r>
            <a:endParaRPr lang="en-US" sz="1100" dirty="0"/>
          </a:p>
        </p:txBody>
      </p:sp>
      <p:sp>
        <p:nvSpPr>
          <p:cNvPr id="34" name="Shape 26"/>
          <p:cNvSpPr/>
          <p:nvPr/>
        </p:nvSpPr>
        <p:spPr>
          <a:xfrm>
            <a:off x="6231636" y="3822192"/>
            <a:ext cx="2521458" cy="1874520"/>
          </a:xfrm>
          <a:prstGeom prst="roundRect">
            <a:avLst>
              <a:gd name="adj" fmla="val 5854"/>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35" name="Shape 27"/>
          <p:cNvSpPr/>
          <p:nvPr/>
        </p:nvSpPr>
        <p:spPr>
          <a:xfrm>
            <a:off x="6460236" y="4023360"/>
            <a:ext cx="548640" cy="548640"/>
          </a:xfrm>
          <a:prstGeom prst="ellipse">
            <a:avLst/>
          </a:prstGeom>
          <a:solidFill>
            <a:srgbClr val="FF7A29"/>
          </a:solidFill>
          <a:ln/>
        </p:spPr>
      </p:sp>
      <p:pic>
        <p:nvPicPr>
          <p:cNvPr id="36" name="Image 6" descr="preencoded.png">    </p:cNvPr>
          <p:cNvPicPr>
            <a:picLocks noChangeAspect="1"/>
          </p:cNvPicPr>
          <p:nvPr/>
        </p:nvPicPr>
        <p:blipFill>
          <a:blip r:embed="rId7"/>
          <a:stretch>
            <a:fillRect/>
          </a:stretch>
        </p:blipFill>
        <p:spPr>
          <a:xfrm>
            <a:off x="6602882" y="4166006"/>
            <a:ext cx="263347" cy="263347"/>
          </a:xfrm>
          <a:prstGeom prst="rect">
            <a:avLst/>
          </a:prstGeom>
        </p:spPr>
      </p:pic>
      <p:sp>
        <p:nvSpPr>
          <p:cNvPr id="37" name="Text 28"/>
          <p:cNvSpPr/>
          <p:nvPr/>
        </p:nvSpPr>
        <p:spPr>
          <a:xfrm>
            <a:off x="6460236" y="4663440"/>
            <a:ext cx="2066544" cy="292608"/>
          </a:xfrm>
          <a:prstGeom prst="rect">
            <a:avLst/>
          </a:prstGeom>
          <a:noFill/>
          <a:ln/>
        </p:spPr>
        <p:txBody>
          <a:bodyPr wrap="square" lIns="0" tIns="0" rIns="0" bIns="0" rtlCol="0" anchor="ctr"/>
          <a:lstStyle/>
          <a:p>
            <a:pPr indent="0" marL="0">
              <a:buNone/>
            </a:pPr>
            <a:r>
              <a:rPr lang="en-US" sz="1450" b="1" dirty="0">
                <a:solidFill>
                  <a:srgbClr val="141438"/>
                </a:solidFill>
                <a:latin typeface="Cambria" pitchFamily="34" charset="0"/>
                <a:ea typeface="Cambria" pitchFamily="34" charset="-122"/>
                <a:cs typeface="Cambria" pitchFamily="34" charset="-120"/>
              </a:rPr>
              <a:t>Materials &amp; resources</a:t>
            </a:r>
            <a:endParaRPr lang="en-US" sz="1450" dirty="0"/>
          </a:p>
        </p:txBody>
      </p:sp>
      <p:sp>
        <p:nvSpPr>
          <p:cNvPr id="38" name="Text 29"/>
          <p:cNvSpPr/>
          <p:nvPr/>
        </p:nvSpPr>
        <p:spPr>
          <a:xfrm>
            <a:off x="6460236" y="4956048"/>
            <a:ext cx="2066544" cy="658368"/>
          </a:xfrm>
          <a:prstGeom prst="rect">
            <a:avLst/>
          </a:prstGeom>
          <a:noFill/>
          <a:ln/>
        </p:spPr>
        <p:txBody>
          <a:bodyPr wrap="square" lIns="0" tIns="0" rIns="0" bIns="0" rtlCol="0" anchor="ctr"/>
          <a:lstStyle/>
          <a:p>
            <a:pPr indent="0" marL="0">
              <a:lnSpc>
                <a:spcPts val="1400"/>
              </a:lnSpc>
              <a:buNone/>
            </a:pPr>
            <a:r>
              <a:rPr lang="en-US" sz="1100" dirty="0">
                <a:solidFill>
                  <a:srgbClr val="5B5B7A"/>
                </a:solidFill>
                <a:latin typeface="Calibri" pitchFamily="34" charset="0"/>
                <a:ea typeface="Calibri" pitchFamily="34" charset="-122"/>
                <a:cs typeface="Calibri" pitchFamily="34" charset="-120"/>
              </a:rPr>
              <a:t>Devices and software guidance, printed workbooks, and take-home extensions.</a:t>
            </a:r>
            <a:endParaRPr lang="en-US" sz="1100" dirty="0"/>
          </a:p>
        </p:txBody>
      </p:sp>
      <p:sp>
        <p:nvSpPr>
          <p:cNvPr id="39" name="Shape 30"/>
          <p:cNvSpPr/>
          <p:nvPr/>
        </p:nvSpPr>
        <p:spPr>
          <a:xfrm>
            <a:off x="9027414" y="3822192"/>
            <a:ext cx="2521458" cy="1874520"/>
          </a:xfrm>
          <a:prstGeom prst="roundRect">
            <a:avLst>
              <a:gd name="adj" fmla="val 5854"/>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40" name="Shape 31"/>
          <p:cNvSpPr/>
          <p:nvPr/>
        </p:nvSpPr>
        <p:spPr>
          <a:xfrm>
            <a:off x="9256014" y="4023360"/>
            <a:ext cx="548640" cy="548640"/>
          </a:xfrm>
          <a:prstGeom prst="ellipse">
            <a:avLst/>
          </a:prstGeom>
          <a:solidFill>
            <a:srgbClr val="3B2E8F"/>
          </a:solidFill>
          <a:ln/>
        </p:spPr>
      </p:sp>
      <p:pic>
        <p:nvPicPr>
          <p:cNvPr id="41" name="Image 7" descr="preencoded.png">    </p:cNvPr>
          <p:cNvPicPr>
            <a:picLocks noChangeAspect="1"/>
          </p:cNvPicPr>
          <p:nvPr/>
        </p:nvPicPr>
        <p:blipFill>
          <a:blip r:embed="rId8"/>
          <a:stretch>
            <a:fillRect/>
          </a:stretch>
        </p:blipFill>
        <p:spPr>
          <a:xfrm>
            <a:off x="9398660" y="4166006"/>
            <a:ext cx="263347" cy="263347"/>
          </a:xfrm>
          <a:prstGeom prst="rect">
            <a:avLst/>
          </a:prstGeom>
        </p:spPr>
      </p:pic>
      <p:sp>
        <p:nvSpPr>
          <p:cNvPr id="42" name="Text 32"/>
          <p:cNvSpPr/>
          <p:nvPr/>
        </p:nvSpPr>
        <p:spPr>
          <a:xfrm>
            <a:off x="9256014" y="4663440"/>
            <a:ext cx="2066544" cy="292608"/>
          </a:xfrm>
          <a:prstGeom prst="rect">
            <a:avLst/>
          </a:prstGeom>
          <a:noFill/>
          <a:ln/>
        </p:spPr>
        <p:txBody>
          <a:bodyPr wrap="square" lIns="0" tIns="0" rIns="0" bIns="0" rtlCol="0" anchor="ctr"/>
          <a:lstStyle/>
          <a:p>
            <a:pPr indent="0" marL="0">
              <a:buNone/>
            </a:pPr>
            <a:r>
              <a:rPr lang="en-US" sz="1450" b="1" dirty="0">
                <a:solidFill>
                  <a:srgbClr val="141438"/>
                </a:solidFill>
                <a:latin typeface="Cambria" pitchFamily="34" charset="0"/>
                <a:ea typeface="Cambria" pitchFamily="34" charset="-122"/>
                <a:cs typeface="Cambria" pitchFamily="34" charset="-120"/>
              </a:rPr>
              <a:t>Ongoing support</a:t>
            </a:r>
            <a:endParaRPr lang="en-US" sz="1450" dirty="0"/>
          </a:p>
        </p:txBody>
      </p:sp>
      <p:sp>
        <p:nvSpPr>
          <p:cNvPr id="43" name="Text 33"/>
          <p:cNvSpPr/>
          <p:nvPr/>
        </p:nvSpPr>
        <p:spPr>
          <a:xfrm>
            <a:off x="9256014" y="4956048"/>
            <a:ext cx="2066544" cy="658368"/>
          </a:xfrm>
          <a:prstGeom prst="rect">
            <a:avLst/>
          </a:prstGeom>
          <a:noFill/>
          <a:ln/>
        </p:spPr>
        <p:txBody>
          <a:bodyPr wrap="square" lIns="0" tIns="0" rIns="0" bIns="0" rtlCol="0" anchor="ctr"/>
          <a:lstStyle/>
          <a:p>
            <a:pPr indent="0" marL="0">
              <a:lnSpc>
                <a:spcPts val="1400"/>
              </a:lnSpc>
              <a:buNone/>
            </a:pPr>
            <a:r>
              <a:rPr lang="en-US" sz="1100" dirty="0">
                <a:solidFill>
                  <a:srgbClr val="5B5B7A"/>
                </a:solidFill>
                <a:latin typeface="Calibri" pitchFamily="34" charset="0"/>
                <a:ea typeface="Calibri" pitchFamily="34" charset="-122"/>
                <a:cs typeface="Calibri" pitchFamily="34" charset="-120"/>
              </a:rPr>
              <a:t>A named program contact, mid-cohort check-ins, and end-of-program evaluation.</a:t>
            </a:r>
            <a:endParaRPr lang="en-US" sz="1100" dirty="0"/>
          </a:p>
        </p:txBody>
      </p:sp>
      <p:sp>
        <p:nvSpPr>
          <p:cNvPr id="44" name="Text 34"/>
          <p:cNvSpPr/>
          <p:nvPr/>
        </p:nvSpPr>
        <p:spPr>
          <a:xfrm>
            <a:off x="640080" y="5989320"/>
            <a:ext cx="10881360" cy="320040"/>
          </a:xfrm>
          <a:prstGeom prst="rect">
            <a:avLst/>
          </a:prstGeom>
          <a:noFill/>
          <a:ln/>
        </p:spPr>
        <p:txBody>
          <a:bodyPr wrap="square" lIns="0" tIns="0" rIns="0" bIns="0" rtlCol="0" anchor="ctr"/>
          <a:lstStyle/>
          <a:p>
            <a:pPr indent="0" marL="0">
              <a:buNone/>
            </a:pPr>
            <a:r>
              <a:rPr lang="en-US" sz="1350" b="1" i="1" dirty="0">
                <a:solidFill>
                  <a:srgbClr val="3B2E8F"/>
                </a:solidFill>
                <a:latin typeface="Calibri" pitchFamily="34" charset="0"/>
                <a:ea typeface="Calibri" pitchFamily="34" charset="-122"/>
                <a:cs typeface="Calibri" pitchFamily="34" charset="-120"/>
              </a:rPr>
              <a:t>Flexible partnership options available — host site, co-hosted, or full-service delivery.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50" kern="0" dirty="0">
                <a:solidFill>
                  <a:srgbClr val="00A8B5"/>
                </a:solidFill>
                <a:latin typeface="Calibri" pitchFamily="34" charset="0"/>
                <a:ea typeface="Calibri" pitchFamily="34" charset="-122"/>
                <a:cs typeface="Calibri" pitchFamily="34" charset="-120"/>
              </a:rPr>
              <a:t>WHO RUNS IT</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Leadership and credentials</a:t>
            </a:r>
            <a:endParaRPr lang="en-US" sz="3800" dirty="0"/>
          </a:p>
        </p:txBody>
      </p:sp>
      <p:sp>
        <p:nvSpPr>
          <p:cNvPr id="4" name="Shape 2"/>
          <p:cNvSpPr/>
          <p:nvPr/>
        </p:nvSpPr>
        <p:spPr>
          <a:xfrm>
            <a:off x="640080" y="1691640"/>
            <a:ext cx="5120640" cy="4343400"/>
          </a:xfrm>
          <a:prstGeom prst="roundRect">
            <a:avLst>
              <a:gd name="adj" fmla="val 2526"/>
            </a:avLst>
          </a:prstGeom>
          <a:solidFill>
            <a:srgbClr val="241B5E"/>
          </a:solidFill>
          <a:ln w="12700">
            <a:solidFill>
              <a:srgbClr val="241B5E"/>
            </a:solidFill>
            <a:prstDash val="solid"/>
          </a:ln>
        </p:spPr>
      </p:sp>
      <p:sp>
        <p:nvSpPr>
          <p:cNvPr id="5" name="Shape 3"/>
          <p:cNvSpPr/>
          <p:nvPr/>
        </p:nvSpPr>
        <p:spPr>
          <a:xfrm>
            <a:off x="960120" y="2148840"/>
            <a:ext cx="658368" cy="658368"/>
          </a:xfrm>
          <a:prstGeom prst="ellipse">
            <a:avLst/>
          </a:prstGeom>
          <a:solidFill>
            <a:srgbClr val="FF7A29"/>
          </a:solidFill>
          <a:ln/>
        </p:spPr>
      </p:sp>
      <p:pic>
        <p:nvPicPr>
          <p:cNvPr id="6" name="Image 0" descr="preencoded.png">    </p:cNvPr>
          <p:cNvPicPr>
            <a:picLocks noChangeAspect="1"/>
          </p:cNvPicPr>
          <p:nvPr/>
        </p:nvPicPr>
        <p:blipFill>
          <a:blip r:embed="rId1"/>
          <a:stretch>
            <a:fillRect/>
          </a:stretch>
        </p:blipFill>
        <p:spPr>
          <a:xfrm>
            <a:off x="1131296" y="2320016"/>
            <a:ext cx="316017" cy="316017"/>
          </a:xfrm>
          <a:prstGeom prst="rect">
            <a:avLst/>
          </a:prstGeom>
        </p:spPr>
      </p:pic>
      <p:sp>
        <p:nvSpPr>
          <p:cNvPr id="7" name="Text 4"/>
          <p:cNvSpPr/>
          <p:nvPr/>
        </p:nvSpPr>
        <p:spPr>
          <a:xfrm>
            <a:off x="960120" y="3108960"/>
            <a:ext cx="4480560" cy="4114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Danielle A. Franklin</a:t>
            </a:r>
            <a:endParaRPr lang="en-US" sz="2600" dirty="0"/>
          </a:p>
        </p:txBody>
      </p:sp>
      <p:sp>
        <p:nvSpPr>
          <p:cNvPr id="8" name="Text 5"/>
          <p:cNvSpPr/>
          <p:nvPr/>
        </p:nvSpPr>
        <p:spPr>
          <a:xfrm>
            <a:off x="960120" y="3584448"/>
            <a:ext cx="4480560" cy="274320"/>
          </a:xfrm>
          <a:prstGeom prst="rect">
            <a:avLst/>
          </a:prstGeom>
          <a:noFill/>
          <a:ln/>
        </p:spPr>
        <p:txBody>
          <a:bodyPr wrap="square" lIns="0" tIns="0" rIns="0" bIns="0" rtlCol="0" anchor="ctr"/>
          <a:lstStyle/>
          <a:p>
            <a:pPr indent="0" marL="0">
              <a:buNone/>
            </a:pPr>
            <a:r>
              <a:rPr lang="en-US" sz="1350" b="1" dirty="0">
                <a:solidFill>
                  <a:srgbClr val="00A8B5"/>
                </a:solidFill>
                <a:latin typeface="Calibri" pitchFamily="34" charset="0"/>
                <a:ea typeface="Calibri" pitchFamily="34" charset="-122"/>
                <a:cs typeface="Calibri" pitchFamily="34" charset="-120"/>
              </a:rPr>
              <a:t>Founder &amp; CEO, Humanity + AI, Inc.</a:t>
            </a:r>
            <a:endParaRPr lang="en-US" sz="1350" dirty="0"/>
          </a:p>
        </p:txBody>
      </p:sp>
      <p:sp>
        <p:nvSpPr>
          <p:cNvPr id="9" name="Text 6"/>
          <p:cNvSpPr/>
          <p:nvPr/>
        </p:nvSpPr>
        <p:spPr>
          <a:xfrm>
            <a:off x="960120" y="4069080"/>
            <a:ext cx="4526280" cy="1874520"/>
          </a:xfrm>
          <a:prstGeom prst="rect">
            <a:avLst/>
          </a:prstGeom>
          <a:noFill/>
          <a:ln/>
        </p:spPr>
        <p:txBody>
          <a:bodyPr wrap="square" lIns="0" tIns="0" rIns="0" bIns="0" rtlCol="0" anchor="t"/>
          <a:lstStyle/>
          <a:p>
            <a:pPr marL="342900" indent="-342900">
              <a:lnSpc>
                <a:spcPts val="1750"/>
              </a:lnSpc>
              <a:spcAft>
                <a:spcPts val="600"/>
              </a:spcAft>
              <a:buSzPct val="100000"/>
              <a:buChar char="▪"/>
            </a:pPr>
            <a:r>
              <a:rPr lang="en-US" sz="1400" dirty="0">
                <a:solidFill>
                  <a:srgbClr val="C9CCEA"/>
                </a:solidFill>
                <a:latin typeface="Calibri" pitchFamily="34" charset="0"/>
                <a:ea typeface="Calibri" pitchFamily="34" charset="-122"/>
                <a:cs typeface="Calibri" pitchFamily="34" charset="-120"/>
              </a:rPr>
              <a:t>Former NVIDIA</a:t>
            </a:r>
            <a:endParaRPr lang="en-US" sz="1400" dirty="0"/>
          </a:p>
          <a:p>
            <a:pPr marL="342900" indent="-342900">
              <a:lnSpc>
                <a:spcPts val="1750"/>
              </a:lnSpc>
              <a:spcAft>
                <a:spcPts val="600"/>
              </a:spcAft>
              <a:buSzPct val="100000"/>
              <a:buChar char="▪"/>
            </a:pPr>
            <a:r>
              <a:rPr lang="en-US" sz="1400" dirty="0">
                <a:solidFill>
                  <a:srgbClr val="C9CCEA"/>
                </a:solidFill>
                <a:latin typeface="Calibri" pitchFamily="34" charset="0"/>
                <a:ea typeface="Calibri" pitchFamily="34" charset="-122"/>
                <a:cs typeface="Calibri" pitchFamily="34" charset="-120"/>
              </a:rPr>
              <a:t>20 years supporting the U.S. Department of Defense</a:t>
            </a:r>
            <a:endParaRPr lang="en-US" sz="1400" dirty="0"/>
          </a:p>
          <a:p>
            <a:pPr marL="342900" indent="-342900">
              <a:lnSpc>
                <a:spcPts val="1750"/>
              </a:lnSpc>
              <a:spcAft>
                <a:spcPts val="600"/>
              </a:spcAft>
              <a:buSzPct val="100000"/>
              <a:buChar char="▪"/>
            </a:pPr>
            <a:r>
              <a:rPr lang="en-US" sz="1400" dirty="0">
                <a:solidFill>
                  <a:srgbClr val="C9CCEA"/>
                </a:solidFill>
                <a:latin typeface="Calibri" pitchFamily="34" charset="0"/>
                <a:ea typeface="Calibri" pitchFamily="34" charset="-122"/>
                <a:cs typeface="Calibri" pitchFamily="34" charset="-120"/>
              </a:rPr>
              <a:t>Founder, Doolittle Corporation</a:t>
            </a:r>
            <a:endParaRPr lang="en-US" sz="1400" dirty="0"/>
          </a:p>
          <a:p>
            <a:pPr marL="342900" indent="-342900">
              <a:lnSpc>
                <a:spcPts val="1750"/>
              </a:lnSpc>
              <a:spcAft>
                <a:spcPts val="600"/>
              </a:spcAft>
              <a:buSzPct val="100000"/>
              <a:buChar char="▪"/>
            </a:pPr>
            <a:r>
              <a:rPr lang="en-US" sz="1400" dirty="0">
                <a:solidFill>
                  <a:srgbClr val="C9CCEA"/>
                </a:solidFill>
                <a:latin typeface="Calibri" pitchFamily="34" charset="0"/>
                <a:ea typeface="Calibri" pitchFamily="34" charset="-122"/>
                <a:cs typeface="Calibri" pitchFamily="34" charset="-120"/>
              </a:rPr>
              <a:t>Developer of ROSIE, an applied AI research platform</a:t>
            </a:r>
            <a:endParaRPr lang="en-US" sz="1400" dirty="0"/>
          </a:p>
        </p:txBody>
      </p:sp>
      <p:sp>
        <p:nvSpPr>
          <p:cNvPr id="10" name="Shape 7"/>
          <p:cNvSpPr/>
          <p:nvPr/>
        </p:nvSpPr>
        <p:spPr>
          <a:xfrm>
            <a:off x="6126480" y="1691640"/>
            <a:ext cx="5422392" cy="2057400"/>
          </a:xfrm>
          <a:prstGeom prst="roundRect">
            <a:avLst>
              <a:gd name="adj" fmla="val 5333"/>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1" name="Text 8"/>
          <p:cNvSpPr/>
          <p:nvPr/>
        </p:nvSpPr>
        <p:spPr>
          <a:xfrm>
            <a:off x="6446520" y="1874520"/>
            <a:ext cx="4572000" cy="320040"/>
          </a:xfrm>
          <a:prstGeom prst="rect">
            <a:avLst/>
          </a:prstGeom>
          <a:noFill/>
          <a:ln/>
        </p:spPr>
        <p:txBody>
          <a:bodyPr wrap="square" lIns="0" tIns="0" rIns="0" bIns="0" rtlCol="0" anchor="ctr"/>
          <a:lstStyle/>
          <a:p>
            <a:pPr indent="0" marL="0">
              <a:buNone/>
            </a:pPr>
            <a:r>
              <a:rPr lang="en-US" sz="1900" b="1" dirty="0">
                <a:solidFill>
                  <a:srgbClr val="141438"/>
                </a:solidFill>
                <a:latin typeface="Cambria" pitchFamily="34" charset="0"/>
                <a:ea typeface="Cambria" pitchFamily="34" charset="-122"/>
                <a:cs typeface="Cambria" pitchFamily="34" charset="-120"/>
              </a:rPr>
              <a:t>Instructor standards</a:t>
            </a:r>
            <a:endParaRPr lang="en-US" sz="1900" dirty="0"/>
          </a:p>
        </p:txBody>
      </p:sp>
      <p:sp>
        <p:nvSpPr>
          <p:cNvPr id="12" name="Text 9"/>
          <p:cNvSpPr/>
          <p:nvPr/>
        </p:nvSpPr>
        <p:spPr>
          <a:xfrm>
            <a:off x="6446520" y="2286000"/>
            <a:ext cx="4687854" cy="1371600"/>
          </a:xfrm>
          <a:prstGeom prst="rect">
            <a:avLst/>
          </a:prstGeom>
          <a:noFill/>
          <a:ln/>
        </p:spPr>
        <p:txBody>
          <a:bodyPr wrap="square" lIns="0" tIns="0" rIns="0" bIns="0" rtlCol="0" anchor="t"/>
          <a:lstStyle/>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Background-checked before any student contact</a:t>
            </a:r>
            <a:endParaRPr lang="en-US" sz="1250" dirty="0"/>
          </a:p>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Trained on our curriculum and classroom protocols</a:t>
            </a:r>
            <a:endParaRPr lang="en-US" sz="1250" dirty="0"/>
          </a:p>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Experience teaching or mentoring school-age students</a:t>
            </a:r>
            <a:endParaRPr lang="en-US" sz="1250" dirty="0"/>
          </a:p>
          <a:p>
            <a:pPr marL="342900" indent="-342900">
              <a:lnSpc>
                <a:spcPts val="1563"/>
              </a:lnSpc>
              <a:spcAft>
                <a:spcPts val="600"/>
              </a:spcAft>
              <a:buSzPct val="100000"/>
              <a:buChar char="▪"/>
            </a:pPr>
            <a:r>
              <a:rPr lang="en-US" sz="1250" dirty="0">
                <a:solidFill>
                  <a:srgbClr val="5B5B7A"/>
                </a:solidFill>
                <a:latin typeface="Calibri" pitchFamily="34" charset="0"/>
                <a:ea typeface="Calibri" pitchFamily="34" charset="-122"/>
                <a:cs typeface="Calibri" pitchFamily="34" charset="-120"/>
              </a:rPr>
              <a:t>A second adult present for every session</a:t>
            </a:r>
            <a:endParaRPr lang="en-US" sz="1250" dirty="0"/>
          </a:p>
        </p:txBody>
      </p:sp>
      <p:sp>
        <p:nvSpPr>
          <p:cNvPr id="13" name="Shape 10"/>
          <p:cNvSpPr/>
          <p:nvPr/>
        </p:nvSpPr>
        <p:spPr>
          <a:xfrm>
            <a:off x="6126480" y="4069080"/>
            <a:ext cx="5422392" cy="1965960"/>
          </a:xfrm>
          <a:prstGeom prst="roundRect">
            <a:avLst>
              <a:gd name="adj" fmla="val 5581"/>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4" name="Text 11"/>
          <p:cNvSpPr/>
          <p:nvPr/>
        </p:nvSpPr>
        <p:spPr>
          <a:xfrm>
            <a:off x="6446520" y="4251960"/>
            <a:ext cx="4572000" cy="320040"/>
          </a:xfrm>
          <a:prstGeom prst="rect">
            <a:avLst/>
          </a:prstGeom>
          <a:noFill/>
          <a:ln/>
        </p:spPr>
        <p:txBody>
          <a:bodyPr wrap="square" lIns="0" tIns="0" rIns="0" bIns="0" rtlCol="0" anchor="ctr"/>
          <a:lstStyle/>
          <a:p>
            <a:pPr indent="0" marL="0">
              <a:buNone/>
            </a:pPr>
            <a:r>
              <a:rPr lang="en-US" sz="1900" b="1" dirty="0">
                <a:solidFill>
                  <a:srgbClr val="141438"/>
                </a:solidFill>
                <a:latin typeface="Cambria" pitchFamily="34" charset="0"/>
                <a:ea typeface="Cambria" pitchFamily="34" charset="-122"/>
                <a:cs typeface="Cambria" pitchFamily="34" charset="-120"/>
              </a:rPr>
              <a:t>About Humanity + AI</a:t>
            </a:r>
            <a:endParaRPr lang="en-US" sz="1900" dirty="0"/>
          </a:p>
        </p:txBody>
      </p:sp>
      <p:sp>
        <p:nvSpPr>
          <p:cNvPr id="15" name="Text 12"/>
          <p:cNvSpPr/>
          <p:nvPr/>
        </p:nvSpPr>
        <p:spPr>
          <a:xfrm>
            <a:off x="6446520" y="4645152"/>
            <a:ext cx="4800600" cy="1280160"/>
          </a:xfrm>
          <a:prstGeom prst="rect">
            <a:avLst/>
          </a:prstGeom>
          <a:noFill/>
          <a:ln/>
        </p:spPr>
        <p:txBody>
          <a:bodyPr wrap="square" lIns="0" tIns="0" rIns="0" bIns="0" rtlCol="0" anchor="ctr"/>
          <a:lstStyle/>
          <a:p>
            <a:pPr indent="0" marL="0">
              <a:lnSpc>
                <a:spcPts val="1700"/>
              </a:lnSpc>
              <a:buNone/>
            </a:pPr>
            <a:r>
              <a:rPr lang="en-US" sz="1250" dirty="0">
                <a:solidFill>
                  <a:srgbClr val="5B5B7A"/>
                </a:solidFill>
                <a:latin typeface="Calibri" pitchFamily="34" charset="0"/>
                <a:ea typeface="Calibri" pitchFamily="34" charset="-122"/>
                <a:cs typeface="Calibri" pitchFamily="34" charset="-120"/>
              </a:rPr>
              <a:t>A 501(c)(3) nonprofit advancing AI education, innovation and responsible development. Our programs span AI literacy, ethics and governance, accessibility, and applied research — the academy is how that work reaches the next generation.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50" kern="0" dirty="0">
                <a:solidFill>
                  <a:srgbClr val="00A8B5"/>
                </a:solidFill>
                <a:latin typeface="Calibri" pitchFamily="34" charset="0"/>
                <a:ea typeface="Calibri" pitchFamily="34" charset="-122"/>
                <a:cs typeface="Calibri" pitchFamily="34" charset="-120"/>
              </a:rPr>
              <a:t>COST AND ACCESS</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Tuition families actually pay</a:t>
            </a:r>
            <a:endParaRPr lang="en-US" sz="3800" dirty="0"/>
          </a:p>
        </p:txBody>
      </p:sp>
      <p:sp>
        <p:nvSpPr>
          <p:cNvPr id="4" name="Shape 2"/>
          <p:cNvSpPr/>
          <p:nvPr/>
        </p:nvSpPr>
        <p:spPr>
          <a:xfrm>
            <a:off x="640080" y="1737360"/>
            <a:ext cx="3453414" cy="2651760"/>
          </a:xfrm>
          <a:prstGeom prst="roundRect">
            <a:avLst>
              <a:gd name="adj" fmla="val 4138"/>
            </a:avLst>
          </a:prstGeom>
          <a:solidFill>
            <a:srgbClr val="241B5E"/>
          </a:solidFill>
          <a:ln w="12700">
            <a:solidFill>
              <a:srgbClr val="241B5E"/>
            </a:solidFill>
            <a:prstDash val="solid"/>
          </a:ln>
        </p:spPr>
      </p:sp>
      <p:sp>
        <p:nvSpPr>
          <p:cNvPr id="5" name="Shape 3"/>
          <p:cNvSpPr/>
          <p:nvPr/>
        </p:nvSpPr>
        <p:spPr>
          <a:xfrm>
            <a:off x="960120" y="1965960"/>
            <a:ext cx="1920240" cy="310896"/>
          </a:xfrm>
          <a:prstGeom prst="roundRect">
            <a:avLst>
              <a:gd name="adj" fmla="val 50000"/>
            </a:avLst>
          </a:prstGeom>
          <a:solidFill>
            <a:srgbClr val="FF7A29"/>
          </a:solidFill>
          <a:ln w="12700">
            <a:solidFill>
              <a:srgbClr val="FF7A29"/>
            </a:solidFill>
            <a:prstDash val="solid"/>
          </a:ln>
        </p:spPr>
      </p:sp>
      <p:sp>
        <p:nvSpPr>
          <p:cNvPr id="6" name="Text 4"/>
          <p:cNvSpPr/>
          <p:nvPr/>
        </p:nvSpPr>
        <p:spPr>
          <a:xfrm>
            <a:off x="960120" y="1965960"/>
            <a:ext cx="192024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TUITION</a:t>
            </a:r>
            <a:endParaRPr lang="en-US" sz="900" dirty="0"/>
          </a:p>
        </p:txBody>
      </p:sp>
      <p:sp>
        <p:nvSpPr>
          <p:cNvPr id="7" name="Text 5"/>
          <p:cNvSpPr/>
          <p:nvPr/>
        </p:nvSpPr>
        <p:spPr>
          <a:xfrm>
            <a:off x="960120" y="2377440"/>
            <a:ext cx="2926080" cy="91440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$399</a:t>
            </a:r>
            <a:endParaRPr lang="en-US" sz="5800" dirty="0"/>
          </a:p>
        </p:txBody>
      </p:sp>
      <p:sp>
        <p:nvSpPr>
          <p:cNvPr id="8" name="Text 6"/>
          <p:cNvSpPr/>
          <p:nvPr/>
        </p:nvSpPr>
        <p:spPr>
          <a:xfrm>
            <a:off x="960120" y="3337560"/>
            <a:ext cx="2926080" cy="731520"/>
          </a:xfrm>
          <a:prstGeom prst="rect">
            <a:avLst/>
          </a:prstGeom>
          <a:noFill/>
          <a:ln/>
        </p:spPr>
        <p:txBody>
          <a:bodyPr wrap="square" lIns="0" tIns="0" rIns="0" bIns="0" rtlCol="0" anchor="ctr"/>
          <a:lstStyle/>
          <a:p>
            <a:pPr indent="0" marL="0">
              <a:lnSpc>
                <a:spcPts val="1800"/>
              </a:lnSpc>
              <a:buNone/>
            </a:pPr>
            <a:r>
              <a:rPr lang="en-US" sz="1300" dirty="0">
                <a:solidFill>
                  <a:srgbClr val="C9CCEA"/>
                </a:solidFill>
                <a:latin typeface="Calibri" pitchFamily="34" charset="0"/>
                <a:ea typeface="Calibri" pitchFamily="34" charset="-122"/>
                <a:cs typeface="Calibri" pitchFamily="34" charset="-120"/>
              </a:rPr>
              <a:t>Full six-week program.</a:t>
            </a:r>
            <a:endParaRPr lang="en-US" sz="1300" dirty="0"/>
          </a:p>
          <a:p>
            <a:pPr indent="0" marL="0">
              <a:lnSpc>
                <a:spcPts val="1800"/>
              </a:lnSpc>
              <a:buNone/>
            </a:pPr>
            <a:r>
              <a:rPr lang="en-US" sz="1300" dirty="0">
                <a:solidFill>
                  <a:srgbClr val="C9CCEA"/>
                </a:solidFill>
                <a:latin typeface="Calibri" pitchFamily="34" charset="0"/>
                <a:ea typeface="Calibri" pitchFamily="34" charset="-122"/>
                <a:cs typeface="Calibri" pitchFamily="34" charset="-120"/>
              </a:rPr>
              <a:t>All materials included.</a:t>
            </a:r>
            <a:endParaRPr lang="en-US" sz="1300" dirty="0"/>
          </a:p>
        </p:txBody>
      </p:sp>
      <p:sp>
        <p:nvSpPr>
          <p:cNvPr id="9" name="Shape 7"/>
          <p:cNvSpPr/>
          <p:nvPr/>
        </p:nvSpPr>
        <p:spPr>
          <a:xfrm>
            <a:off x="4367814" y="1737360"/>
            <a:ext cx="3453414" cy="2651760"/>
          </a:xfrm>
          <a:prstGeom prst="roundRect">
            <a:avLst>
              <a:gd name="adj" fmla="val 4138"/>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0" name="Shape 8"/>
          <p:cNvSpPr/>
          <p:nvPr/>
        </p:nvSpPr>
        <p:spPr>
          <a:xfrm>
            <a:off x="4687854" y="1965960"/>
            <a:ext cx="1920240" cy="310896"/>
          </a:xfrm>
          <a:prstGeom prst="roundRect">
            <a:avLst>
              <a:gd name="adj" fmla="val 50000"/>
            </a:avLst>
          </a:prstGeom>
          <a:solidFill>
            <a:srgbClr val="5B5B7A"/>
          </a:solidFill>
          <a:ln w="12700">
            <a:solidFill>
              <a:srgbClr val="5B5B7A"/>
            </a:solidFill>
            <a:prstDash val="solid"/>
          </a:ln>
        </p:spPr>
      </p:sp>
      <p:sp>
        <p:nvSpPr>
          <p:cNvPr id="11" name="Text 9"/>
          <p:cNvSpPr/>
          <p:nvPr/>
        </p:nvSpPr>
        <p:spPr>
          <a:xfrm>
            <a:off x="4687854" y="1965960"/>
            <a:ext cx="192024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COHORT DATES</a:t>
            </a:r>
            <a:endParaRPr lang="en-US" sz="900" dirty="0"/>
          </a:p>
        </p:txBody>
      </p:sp>
      <p:sp>
        <p:nvSpPr>
          <p:cNvPr id="12" name="Text 10"/>
          <p:cNvSpPr/>
          <p:nvPr/>
        </p:nvSpPr>
        <p:spPr>
          <a:xfrm>
            <a:off x="4687854" y="2377440"/>
            <a:ext cx="2926080" cy="914400"/>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Fall 2026</a:t>
            </a:r>
            <a:endParaRPr lang="en-US" sz="5800" dirty="0"/>
          </a:p>
        </p:txBody>
      </p:sp>
      <p:sp>
        <p:nvSpPr>
          <p:cNvPr id="13" name="Text 11"/>
          <p:cNvSpPr/>
          <p:nvPr/>
        </p:nvSpPr>
        <p:spPr>
          <a:xfrm>
            <a:off x="4687854" y="3337560"/>
            <a:ext cx="2926080" cy="731520"/>
          </a:xfrm>
          <a:prstGeom prst="rect">
            <a:avLst/>
          </a:prstGeom>
          <a:noFill/>
          <a:ln/>
        </p:spPr>
        <p:txBody>
          <a:bodyPr wrap="square" lIns="0" tIns="0" rIns="0" bIns="0" rtlCol="0" anchor="ctr"/>
          <a:lstStyle/>
          <a:p>
            <a:pPr indent="0" marL="0">
              <a:lnSpc>
                <a:spcPts val="1800"/>
              </a:lnSpc>
              <a:buNone/>
            </a:pPr>
            <a:r>
              <a:rPr lang="en-US" sz="1300" dirty="0">
                <a:solidFill>
                  <a:srgbClr val="5B5B7A"/>
                </a:solidFill>
                <a:latin typeface="Calibri" pitchFamily="34" charset="0"/>
                <a:ea typeface="Calibri" pitchFamily="34" charset="-122"/>
                <a:cs typeface="Calibri" pitchFamily="34" charset="-120"/>
              </a:rPr>
              <a:t>Exact start dates are confirmed</a:t>
            </a:r>
            <a:endParaRPr lang="en-US" sz="1300" dirty="0"/>
          </a:p>
          <a:p>
            <a:pPr indent="0" marL="0">
              <a:lnSpc>
                <a:spcPts val="1800"/>
              </a:lnSpc>
              <a:buNone/>
            </a:pPr>
            <a:r>
              <a:rPr lang="en-US" sz="1300" dirty="0">
                <a:solidFill>
                  <a:srgbClr val="5B5B7A"/>
                </a:solidFill>
                <a:latin typeface="Calibri" pitchFamily="34" charset="0"/>
                <a:ea typeface="Calibri" pitchFamily="34" charset="-122"/>
                <a:cs typeface="Calibri" pitchFamily="34" charset="-120"/>
              </a:rPr>
              <a:t>with each partner school.</a:t>
            </a:r>
            <a:endParaRPr lang="en-US" sz="1300" dirty="0"/>
          </a:p>
        </p:txBody>
      </p:sp>
      <p:sp>
        <p:nvSpPr>
          <p:cNvPr id="14" name="Shape 12"/>
          <p:cNvSpPr/>
          <p:nvPr/>
        </p:nvSpPr>
        <p:spPr>
          <a:xfrm>
            <a:off x="8095458" y="1737360"/>
            <a:ext cx="3453414" cy="2651760"/>
          </a:xfrm>
          <a:prstGeom prst="roundRect">
            <a:avLst>
              <a:gd name="adj" fmla="val 4138"/>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15" name="Shape 13"/>
          <p:cNvSpPr/>
          <p:nvPr/>
        </p:nvSpPr>
        <p:spPr>
          <a:xfrm>
            <a:off x="8397210" y="1965960"/>
            <a:ext cx="548640" cy="548640"/>
          </a:xfrm>
          <a:prstGeom prst="ellipse">
            <a:avLst/>
          </a:prstGeom>
          <a:solidFill>
            <a:srgbClr val="00A8B5"/>
          </a:solidFill>
          <a:ln/>
        </p:spPr>
      </p:sp>
      <p:pic>
        <p:nvPicPr>
          <p:cNvPr id="16" name="Image 0" descr="preencoded.png">    </p:cNvPr>
          <p:cNvPicPr>
            <a:picLocks noChangeAspect="1"/>
          </p:cNvPicPr>
          <p:nvPr/>
        </p:nvPicPr>
        <p:blipFill>
          <a:blip r:embed="rId1"/>
          <a:stretch>
            <a:fillRect/>
          </a:stretch>
        </p:blipFill>
        <p:spPr>
          <a:xfrm>
            <a:off x="8539856" y="2108606"/>
            <a:ext cx="263347" cy="263347"/>
          </a:xfrm>
          <a:prstGeom prst="rect">
            <a:avLst/>
          </a:prstGeom>
        </p:spPr>
      </p:pic>
      <p:sp>
        <p:nvSpPr>
          <p:cNvPr id="17" name="Text 14"/>
          <p:cNvSpPr/>
          <p:nvPr/>
        </p:nvSpPr>
        <p:spPr>
          <a:xfrm>
            <a:off x="8397210" y="2633472"/>
            <a:ext cx="2697480" cy="566928"/>
          </a:xfrm>
          <a:prstGeom prst="rect">
            <a:avLst/>
          </a:prstGeom>
          <a:noFill/>
          <a:ln/>
        </p:spPr>
        <p:txBody>
          <a:bodyPr wrap="square" lIns="0" tIns="0" rIns="0" bIns="0" rtlCol="0" anchor="ctr"/>
          <a:lstStyle/>
          <a:p>
            <a:pPr indent="0" marL="0">
              <a:lnSpc>
                <a:spcPts val="2100"/>
              </a:lnSpc>
              <a:buNone/>
            </a:pPr>
            <a:r>
              <a:rPr lang="en-US" sz="1700" b="1" dirty="0">
                <a:solidFill>
                  <a:srgbClr val="141438"/>
                </a:solidFill>
                <a:latin typeface="Cambria" pitchFamily="34" charset="0"/>
                <a:ea typeface="Cambria" pitchFamily="34" charset="-122"/>
                <a:cs typeface="Cambria" pitchFamily="34" charset="-120"/>
              </a:rPr>
              <a:t>No family turned</a:t>
            </a:r>
            <a:endParaRPr lang="en-US" sz="1700" dirty="0"/>
          </a:p>
          <a:p>
            <a:pPr indent="0" marL="0">
              <a:lnSpc>
                <a:spcPts val="2100"/>
              </a:lnSpc>
              <a:buNone/>
            </a:pPr>
            <a:r>
              <a:rPr lang="en-US" sz="1700" b="1" dirty="0">
                <a:solidFill>
                  <a:srgbClr val="141438"/>
                </a:solidFill>
                <a:latin typeface="Cambria" pitchFamily="34" charset="0"/>
                <a:ea typeface="Cambria" pitchFamily="34" charset="-122"/>
                <a:cs typeface="Cambria" pitchFamily="34" charset="-120"/>
              </a:rPr>
              <a:t>away for cost</a:t>
            </a:r>
            <a:endParaRPr lang="en-US" sz="1700" dirty="0"/>
          </a:p>
        </p:txBody>
      </p:sp>
      <p:sp>
        <p:nvSpPr>
          <p:cNvPr id="18" name="Text 15"/>
          <p:cNvSpPr/>
          <p:nvPr/>
        </p:nvSpPr>
        <p:spPr>
          <a:xfrm>
            <a:off x="8397210" y="3310128"/>
            <a:ext cx="2743200" cy="96012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200" dirty="0">
                <a:solidFill>
                  <a:srgbClr val="5B5B7A"/>
                </a:solidFill>
                <a:latin typeface="Calibri" pitchFamily="34" charset="0"/>
                <a:ea typeface="Calibri" pitchFamily="34" charset="-122"/>
                <a:cs typeface="Calibri" pitchFamily="34" charset="-120"/>
              </a:rPr>
              <a:t>Sibling discounts</a:t>
            </a:r>
            <a:endParaRPr lang="en-US" sz="1200" dirty="0"/>
          </a:p>
          <a:p>
            <a:pPr marL="342900" indent="-342900">
              <a:lnSpc>
                <a:spcPts val="1500"/>
              </a:lnSpc>
              <a:spcAft>
                <a:spcPts val="600"/>
              </a:spcAft>
              <a:buSzPct val="100000"/>
              <a:buChar char="▪"/>
            </a:pPr>
            <a:r>
              <a:rPr lang="en-US" sz="1200" dirty="0">
                <a:solidFill>
                  <a:srgbClr val="5B5B7A"/>
                </a:solidFill>
                <a:latin typeface="Calibri" pitchFamily="34" charset="0"/>
                <a:ea typeface="Calibri" pitchFamily="34" charset="-122"/>
                <a:cs typeface="Calibri" pitchFamily="34" charset="-120"/>
              </a:rPr>
              <a:t>Need-based financial assistance</a:t>
            </a:r>
            <a:endParaRPr lang="en-US" sz="1200" dirty="0"/>
          </a:p>
          <a:p>
            <a:pPr marL="342900" indent="-342900">
              <a:lnSpc>
                <a:spcPts val="1500"/>
              </a:lnSpc>
              <a:spcAft>
                <a:spcPts val="600"/>
              </a:spcAft>
              <a:buSzPct val="100000"/>
              <a:buChar char="▪"/>
            </a:pPr>
            <a:r>
              <a:rPr lang="en-US" sz="1200" dirty="0">
                <a:solidFill>
                  <a:srgbClr val="5B5B7A"/>
                </a:solidFill>
                <a:latin typeface="Calibri" pitchFamily="34" charset="0"/>
                <a:ea typeface="Calibri" pitchFamily="34" charset="-122"/>
                <a:cs typeface="Calibri" pitchFamily="34" charset="-120"/>
              </a:rPr>
              <a:t>Scholarships available</a:t>
            </a:r>
            <a:endParaRPr lang="en-US" sz="1200" dirty="0"/>
          </a:p>
        </p:txBody>
      </p:sp>
      <p:sp>
        <p:nvSpPr>
          <p:cNvPr id="19" name="Shape 16"/>
          <p:cNvSpPr/>
          <p:nvPr/>
        </p:nvSpPr>
        <p:spPr>
          <a:xfrm>
            <a:off x="640080" y="4617720"/>
            <a:ext cx="10908792" cy="1417320"/>
          </a:xfrm>
          <a:prstGeom prst="roundRect">
            <a:avLst>
              <a:gd name="adj" fmla="val 7742"/>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20" name="Text 17"/>
          <p:cNvSpPr/>
          <p:nvPr/>
        </p:nvSpPr>
        <p:spPr>
          <a:xfrm>
            <a:off x="960120" y="4773168"/>
            <a:ext cx="3657600" cy="292608"/>
          </a:xfrm>
          <a:prstGeom prst="rect">
            <a:avLst/>
          </a:prstGeom>
          <a:noFill/>
          <a:ln/>
        </p:spPr>
        <p:txBody>
          <a:bodyPr wrap="square" lIns="0" tIns="0" rIns="0" bIns="0" rtlCol="0" anchor="ctr"/>
          <a:lstStyle/>
          <a:p>
            <a:pPr indent="0" marL="0">
              <a:buNone/>
            </a:pPr>
            <a:r>
              <a:rPr lang="en-US" sz="1700" b="1" dirty="0">
                <a:solidFill>
                  <a:srgbClr val="141438"/>
                </a:solidFill>
                <a:latin typeface="Cambria" pitchFamily="34" charset="0"/>
                <a:ea typeface="Cambria" pitchFamily="34" charset="-122"/>
                <a:cs typeface="Cambria" pitchFamily="34" charset="-120"/>
              </a:rPr>
              <a:t>For your families</a:t>
            </a:r>
            <a:endParaRPr lang="en-US" sz="1700" dirty="0"/>
          </a:p>
        </p:txBody>
      </p:sp>
      <p:sp>
        <p:nvSpPr>
          <p:cNvPr id="21" name="Text 18"/>
          <p:cNvSpPr/>
          <p:nvPr/>
        </p:nvSpPr>
        <p:spPr>
          <a:xfrm>
            <a:off x="960120" y="5120640"/>
            <a:ext cx="10241280" cy="822960"/>
          </a:xfrm>
          <a:prstGeom prst="rect">
            <a:avLst/>
          </a:prstGeom>
          <a:noFill/>
          <a:ln/>
        </p:spPr>
        <p:txBody>
          <a:bodyPr wrap="square" lIns="0" tIns="0" rIns="0" bIns="0" rtlCol="0" anchor="ctr"/>
          <a:lstStyle/>
          <a:p>
            <a:pPr indent="0" marL="0">
              <a:lnSpc>
                <a:spcPts val="1800"/>
              </a:lnSpc>
              <a:buNone/>
            </a:pPr>
            <a:r>
              <a:rPr lang="en-US" sz="1300" dirty="0">
                <a:solidFill>
                  <a:srgbClr val="5B5B7A"/>
                </a:solidFill>
                <a:latin typeface="Calibri" pitchFamily="34" charset="0"/>
                <a:ea typeface="Calibri" pitchFamily="34" charset="-122"/>
                <a:cs typeface="Calibri" pitchFamily="34" charset="-120"/>
              </a:rPr>
              <a:t>Tuition is paid directly to Humanity + AI — your school never handles money for this program. Scholarship requests are reviewed by us, confidentially, and families apply through the same enrollment form. Schools may also sponsor seats for students they identify.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50" kern="0" dirty="0">
                <a:solidFill>
                  <a:srgbClr val="00A8B5"/>
                </a:solidFill>
                <a:latin typeface="Calibri" pitchFamily="34" charset="0"/>
                <a:ea typeface="Calibri" pitchFamily="34" charset="-122"/>
                <a:cs typeface="Calibri" pitchFamily="34" charset="-120"/>
              </a:rPr>
              <a:t>WHERE AND WHEN</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800" b="1" dirty="0">
                <a:solidFill>
                  <a:srgbClr val="141438"/>
                </a:solidFill>
                <a:latin typeface="Cambria" pitchFamily="34" charset="0"/>
                <a:ea typeface="Cambria" pitchFamily="34" charset="-122"/>
                <a:cs typeface="Cambria" pitchFamily="34" charset="-120"/>
              </a:rPr>
              <a:t>Launching Fall 2026 across Pinellas County</a:t>
            </a:r>
            <a:endParaRPr lang="en-US" sz="3800" dirty="0"/>
          </a:p>
        </p:txBody>
      </p:sp>
      <p:sp>
        <p:nvSpPr>
          <p:cNvPr id="4" name="Shape 2"/>
          <p:cNvSpPr/>
          <p:nvPr/>
        </p:nvSpPr>
        <p:spPr>
          <a:xfrm>
            <a:off x="640080" y="1691640"/>
            <a:ext cx="5317236" cy="2743200"/>
          </a:xfrm>
          <a:prstGeom prst="roundRect">
            <a:avLst>
              <a:gd name="adj" fmla="val 4000"/>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5" name="Text 3"/>
          <p:cNvSpPr/>
          <p:nvPr/>
        </p:nvSpPr>
        <p:spPr>
          <a:xfrm>
            <a:off x="960120" y="1874520"/>
            <a:ext cx="4572000" cy="320040"/>
          </a:xfrm>
          <a:prstGeom prst="rect">
            <a:avLst/>
          </a:prstGeom>
          <a:noFill/>
          <a:ln/>
        </p:spPr>
        <p:txBody>
          <a:bodyPr wrap="square" lIns="0" tIns="0" rIns="0" bIns="0" rtlCol="0" anchor="ctr"/>
          <a:lstStyle/>
          <a:p>
            <a:pPr indent="0" marL="0">
              <a:buNone/>
            </a:pPr>
            <a:r>
              <a:rPr lang="en-US" sz="1900" b="1" dirty="0">
                <a:solidFill>
                  <a:srgbClr val="141438"/>
                </a:solidFill>
                <a:latin typeface="Cambria" pitchFamily="34" charset="0"/>
                <a:ea typeface="Cambria" pitchFamily="34" charset="-122"/>
                <a:cs typeface="Cambria" pitchFamily="34" charset="-120"/>
              </a:rPr>
              <a:t>Launch communities</a:t>
            </a:r>
            <a:endParaRPr lang="en-US" sz="1900" dirty="0"/>
          </a:p>
        </p:txBody>
      </p:sp>
      <p:sp>
        <p:nvSpPr>
          <p:cNvPr id="6" name="Shape 4"/>
          <p:cNvSpPr/>
          <p:nvPr/>
        </p:nvSpPr>
        <p:spPr>
          <a:xfrm>
            <a:off x="960120" y="2368296"/>
            <a:ext cx="146304" cy="146304"/>
          </a:xfrm>
          <a:prstGeom prst="ellipse">
            <a:avLst/>
          </a:prstGeom>
          <a:solidFill>
            <a:srgbClr val="FF7A29"/>
          </a:solidFill>
          <a:ln/>
        </p:spPr>
      </p:sp>
      <p:sp>
        <p:nvSpPr>
          <p:cNvPr id="7" name="Text 5"/>
          <p:cNvSpPr/>
          <p:nvPr/>
        </p:nvSpPr>
        <p:spPr>
          <a:xfrm>
            <a:off x="1216152" y="2304288"/>
            <a:ext cx="2286000" cy="274320"/>
          </a:xfrm>
          <a:prstGeom prst="rect">
            <a:avLst/>
          </a:prstGeom>
          <a:noFill/>
          <a:ln/>
        </p:spPr>
        <p:txBody>
          <a:bodyPr wrap="square" lIns="0" tIns="0" rIns="0" bIns="0" rtlCol="0" anchor="ctr"/>
          <a:lstStyle/>
          <a:p>
            <a:pPr indent="0" marL="0">
              <a:buNone/>
            </a:pPr>
            <a:r>
              <a:rPr lang="en-US" sz="1300" dirty="0">
                <a:solidFill>
                  <a:srgbClr val="141438"/>
                </a:solidFill>
                <a:latin typeface="Calibri" pitchFamily="34" charset="0"/>
                <a:ea typeface="Calibri" pitchFamily="34" charset="-122"/>
                <a:cs typeface="Calibri" pitchFamily="34" charset="-120"/>
              </a:rPr>
              <a:t>St. Petersburg</a:t>
            </a:r>
            <a:endParaRPr lang="en-US" sz="1300" dirty="0"/>
          </a:p>
        </p:txBody>
      </p:sp>
      <p:sp>
        <p:nvSpPr>
          <p:cNvPr id="8" name="Shape 6"/>
          <p:cNvSpPr/>
          <p:nvPr/>
        </p:nvSpPr>
        <p:spPr>
          <a:xfrm>
            <a:off x="3566160" y="2368296"/>
            <a:ext cx="146304" cy="146304"/>
          </a:xfrm>
          <a:prstGeom prst="ellipse">
            <a:avLst/>
          </a:prstGeom>
          <a:solidFill>
            <a:srgbClr val="00A8B5"/>
          </a:solidFill>
          <a:ln/>
        </p:spPr>
      </p:sp>
      <p:sp>
        <p:nvSpPr>
          <p:cNvPr id="9" name="Text 7"/>
          <p:cNvSpPr/>
          <p:nvPr/>
        </p:nvSpPr>
        <p:spPr>
          <a:xfrm>
            <a:off x="3822192" y="2304288"/>
            <a:ext cx="2286000" cy="274320"/>
          </a:xfrm>
          <a:prstGeom prst="rect">
            <a:avLst/>
          </a:prstGeom>
          <a:noFill/>
          <a:ln/>
        </p:spPr>
        <p:txBody>
          <a:bodyPr wrap="square" lIns="0" tIns="0" rIns="0" bIns="0" rtlCol="0" anchor="ctr"/>
          <a:lstStyle/>
          <a:p>
            <a:pPr indent="0" marL="0">
              <a:buNone/>
            </a:pPr>
            <a:r>
              <a:rPr lang="en-US" sz="1300" dirty="0">
                <a:solidFill>
                  <a:srgbClr val="141438"/>
                </a:solidFill>
                <a:latin typeface="Calibri" pitchFamily="34" charset="0"/>
                <a:ea typeface="Calibri" pitchFamily="34" charset="-122"/>
                <a:cs typeface="Calibri" pitchFamily="34" charset="-120"/>
              </a:rPr>
              <a:t>Palm Harbor</a:t>
            </a:r>
            <a:endParaRPr lang="en-US" sz="1300" dirty="0"/>
          </a:p>
        </p:txBody>
      </p:sp>
      <p:sp>
        <p:nvSpPr>
          <p:cNvPr id="10" name="Shape 8"/>
          <p:cNvSpPr/>
          <p:nvPr/>
        </p:nvSpPr>
        <p:spPr>
          <a:xfrm>
            <a:off x="960120" y="2752344"/>
            <a:ext cx="146304" cy="146304"/>
          </a:xfrm>
          <a:prstGeom prst="ellipse">
            <a:avLst/>
          </a:prstGeom>
          <a:solidFill>
            <a:srgbClr val="FF7A29"/>
          </a:solidFill>
          <a:ln/>
        </p:spPr>
      </p:sp>
      <p:sp>
        <p:nvSpPr>
          <p:cNvPr id="11" name="Text 9"/>
          <p:cNvSpPr/>
          <p:nvPr/>
        </p:nvSpPr>
        <p:spPr>
          <a:xfrm>
            <a:off x="1216152" y="2688336"/>
            <a:ext cx="2286000" cy="274320"/>
          </a:xfrm>
          <a:prstGeom prst="rect">
            <a:avLst/>
          </a:prstGeom>
          <a:noFill/>
          <a:ln/>
        </p:spPr>
        <p:txBody>
          <a:bodyPr wrap="square" lIns="0" tIns="0" rIns="0" bIns="0" rtlCol="0" anchor="ctr"/>
          <a:lstStyle/>
          <a:p>
            <a:pPr indent="0" marL="0">
              <a:buNone/>
            </a:pPr>
            <a:r>
              <a:rPr lang="en-US" sz="1300" dirty="0">
                <a:solidFill>
                  <a:srgbClr val="141438"/>
                </a:solidFill>
                <a:latin typeface="Calibri" pitchFamily="34" charset="0"/>
                <a:ea typeface="Calibri" pitchFamily="34" charset="-122"/>
                <a:cs typeface="Calibri" pitchFamily="34" charset="-120"/>
              </a:rPr>
              <a:t>Clearwater</a:t>
            </a:r>
            <a:endParaRPr lang="en-US" sz="1300" dirty="0"/>
          </a:p>
        </p:txBody>
      </p:sp>
      <p:sp>
        <p:nvSpPr>
          <p:cNvPr id="12" name="Shape 10"/>
          <p:cNvSpPr/>
          <p:nvPr/>
        </p:nvSpPr>
        <p:spPr>
          <a:xfrm>
            <a:off x="3566160" y="2752344"/>
            <a:ext cx="146304" cy="146304"/>
          </a:xfrm>
          <a:prstGeom prst="ellipse">
            <a:avLst/>
          </a:prstGeom>
          <a:solidFill>
            <a:srgbClr val="00A8B5"/>
          </a:solidFill>
          <a:ln/>
        </p:spPr>
      </p:sp>
      <p:sp>
        <p:nvSpPr>
          <p:cNvPr id="13" name="Text 11"/>
          <p:cNvSpPr/>
          <p:nvPr/>
        </p:nvSpPr>
        <p:spPr>
          <a:xfrm>
            <a:off x="3822192" y="2688336"/>
            <a:ext cx="2286000" cy="274320"/>
          </a:xfrm>
          <a:prstGeom prst="rect">
            <a:avLst/>
          </a:prstGeom>
          <a:noFill/>
          <a:ln/>
        </p:spPr>
        <p:txBody>
          <a:bodyPr wrap="square" lIns="0" tIns="0" rIns="0" bIns="0" rtlCol="0" anchor="ctr"/>
          <a:lstStyle/>
          <a:p>
            <a:pPr indent="0" marL="0">
              <a:buNone/>
            </a:pPr>
            <a:r>
              <a:rPr lang="en-US" sz="1300" dirty="0">
                <a:solidFill>
                  <a:srgbClr val="141438"/>
                </a:solidFill>
                <a:latin typeface="Calibri" pitchFamily="34" charset="0"/>
                <a:ea typeface="Calibri" pitchFamily="34" charset="-122"/>
                <a:cs typeface="Calibri" pitchFamily="34" charset="-120"/>
              </a:rPr>
              <a:t>Dunedin</a:t>
            </a:r>
            <a:endParaRPr lang="en-US" sz="1300" dirty="0"/>
          </a:p>
        </p:txBody>
      </p:sp>
      <p:sp>
        <p:nvSpPr>
          <p:cNvPr id="14" name="Shape 12"/>
          <p:cNvSpPr/>
          <p:nvPr/>
        </p:nvSpPr>
        <p:spPr>
          <a:xfrm>
            <a:off x="960120" y="3136392"/>
            <a:ext cx="146304" cy="146304"/>
          </a:xfrm>
          <a:prstGeom prst="ellipse">
            <a:avLst/>
          </a:prstGeom>
          <a:solidFill>
            <a:srgbClr val="FF7A29"/>
          </a:solidFill>
          <a:ln/>
        </p:spPr>
      </p:sp>
      <p:sp>
        <p:nvSpPr>
          <p:cNvPr id="15" name="Text 13"/>
          <p:cNvSpPr/>
          <p:nvPr/>
        </p:nvSpPr>
        <p:spPr>
          <a:xfrm>
            <a:off x="1216152" y="3072384"/>
            <a:ext cx="2286000" cy="274320"/>
          </a:xfrm>
          <a:prstGeom prst="rect">
            <a:avLst/>
          </a:prstGeom>
          <a:noFill/>
          <a:ln/>
        </p:spPr>
        <p:txBody>
          <a:bodyPr wrap="square" lIns="0" tIns="0" rIns="0" bIns="0" rtlCol="0" anchor="ctr"/>
          <a:lstStyle/>
          <a:p>
            <a:pPr indent="0" marL="0">
              <a:buNone/>
            </a:pPr>
            <a:r>
              <a:rPr lang="en-US" sz="1300" dirty="0">
                <a:solidFill>
                  <a:srgbClr val="141438"/>
                </a:solidFill>
                <a:latin typeface="Calibri" pitchFamily="34" charset="0"/>
                <a:ea typeface="Calibri" pitchFamily="34" charset="-122"/>
                <a:cs typeface="Calibri" pitchFamily="34" charset="-120"/>
              </a:rPr>
              <a:t>Largo</a:t>
            </a:r>
            <a:endParaRPr lang="en-US" sz="1300" dirty="0"/>
          </a:p>
        </p:txBody>
      </p:sp>
      <p:sp>
        <p:nvSpPr>
          <p:cNvPr id="16" name="Shape 14"/>
          <p:cNvSpPr/>
          <p:nvPr/>
        </p:nvSpPr>
        <p:spPr>
          <a:xfrm>
            <a:off x="3566160" y="3136392"/>
            <a:ext cx="146304" cy="146304"/>
          </a:xfrm>
          <a:prstGeom prst="ellipse">
            <a:avLst/>
          </a:prstGeom>
          <a:solidFill>
            <a:srgbClr val="00A8B5"/>
          </a:solidFill>
          <a:ln/>
        </p:spPr>
      </p:sp>
      <p:sp>
        <p:nvSpPr>
          <p:cNvPr id="17" name="Text 15"/>
          <p:cNvSpPr/>
          <p:nvPr/>
        </p:nvSpPr>
        <p:spPr>
          <a:xfrm>
            <a:off x="3822192" y="3072384"/>
            <a:ext cx="2286000" cy="274320"/>
          </a:xfrm>
          <a:prstGeom prst="rect">
            <a:avLst/>
          </a:prstGeom>
          <a:noFill/>
          <a:ln/>
        </p:spPr>
        <p:txBody>
          <a:bodyPr wrap="square" lIns="0" tIns="0" rIns="0" bIns="0" rtlCol="0" anchor="ctr"/>
          <a:lstStyle/>
          <a:p>
            <a:pPr indent="0" marL="0">
              <a:buNone/>
            </a:pPr>
            <a:r>
              <a:rPr lang="en-US" sz="1300" dirty="0">
                <a:solidFill>
                  <a:srgbClr val="141438"/>
                </a:solidFill>
                <a:latin typeface="Calibri" pitchFamily="34" charset="0"/>
                <a:ea typeface="Calibri" pitchFamily="34" charset="-122"/>
                <a:cs typeface="Calibri" pitchFamily="34" charset="-120"/>
              </a:rPr>
              <a:t>Safety Harbor</a:t>
            </a:r>
            <a:endParaRPr lang="en-US" sz="1300" dirty="0"/>
          </a:p>
        </p:txBody>
      </p:sp>
      <p:sp>
        <p:nvSpPr>
          <p:cNvPr id="18" name="Shape 16"/>
          <p:cNvSpPr/>
          <p:nvPr/>
        </p:nvSpPr>
        <p:spPr>
          <a:xfrm>
            <a:off x="960120" y="3520440"/>
            <a:ext cx="146304" cy="146304"/>
          </a:xfrm>
          <a:prstGeom prst="ellipse">
            <a:avLst/>
          </a:prstGeom>
          <a:solidFill>
            <a:srgbClr val="FF7A29"/>
          </a:solidFill>
          <a:ln/>
        </p:spPr>
      </p:sp>
      <p:sp>
        <p:nvSpPr>
          <p:cNvPr id="19" name="Text 17"/>
          <p:cNvSpPr/>
          <p:nvPr/>
        </p:nvSpPr>
        <p:spPr>
          <a:xfrm>
            <a:off x="1216152" y="3456432"/>
            <a:ext cx="2286000" cy="274320"/>
          </a:xfrm>
          <a:prstGeom prst="rect">
            <a:avLst/>
          </a:prstGeom>
          <a:noFill/>
          <a:ln/>
        </p:spPr>
        <p:txBody>
          <a:bodyPr wrap="square" lIns="0" tIns="0" rIns="0" bIns="0" rtlCol="0" anchor="ctr"/>
          <a:lstStyle/>
          <a:p>
            <a:pPr indent="0" marL="0">
              <a:buNone/>
            </a:pPr>
            <a:r>
              <a:rPr lang="en-US" sz="1300" dirty="0">
                <a:solidFill>
                  <a:srgbClr val="141438"/>
                </a:solidFill>
                <a:latin typeface="Calibri" pitchFamily="34" charset="0"/>
                <a:ea typeface="Calibri" pitchFamily="34" charset="-122"/>
                <a:cs typeface="Calibri" pitchFamily="34" charset="-120"/>
              </a:rPr>
              <a:t>Seminole</a:t>
            </a:r>
            <a:endParaRPr lang="en-US" sz="1300" dirty="0"/>
          </a:p>
        </p:txBody>
      </p:sp>
      <p:sp>
        <p:nvSpPr>
          <p:cNvPr id="20" name="Shape 18"/>
          <p:cNvSpPr/>
          <p:nvPr/>
        </p:nvSpPr>
        <p:spPr>
          <a:xfrm>
            <a:off x="3566160" y="3520440"/>
            <a:ext cx="146304" cy="146304"/>
          </a:xfrm>
          <a:prstGeom prst="ellipse">
            <a:avLst/>
          </a:prstGeom>
          <a:solidFill>
            <a:srgbClr val="00A8B5"/>
          </a:solidFill>
          <a:ln/>
        </p:spPr>
      </p:sp>
      <p:sp>
        <p:nvSpPr>
          <p:cNvPr id="21" name="Text 19"/>
          <p:cNvSpPr/>
          <p:nvPr/>
        </p:nvSpPr>
        <p:spPr>
          <a:xfrm>
            <a:off x="3822192" y="3456432"/>
            <a:ext cx="2286000" cy="274320"/>
          </a:xfrm>
          <a:prstGeom prst="rect">
            <a:avLst/>
          </a:prstGeom>
          <a:noFill/>
          <a:ln/>
        </p:spPr>
        <p:txBody>
          <a:bodyPr wrap="square" lIns="0" tIns="0" rIns="0" bIns="0" rtlCol="0" anchor="ctr"/>
          <a:lstStyle/>
          <a:p>
            <a:pPr indent="0" marL="0">
              <a:buNone/>
            </a:pPr>
            <a:r>
              <a:rPr lang="en-US" sz="1300" dirty="0">
                <a:solidFill>
                  <a:srgbClr val="141438"/>
                </a:solidFill>
                <a:latin typeface="Calibri" pitchFamily="34" charset="0"/>
                <a:ea typeface="Calibri" pitchFamily="34" charset="-122"/>
                <a:cs typeface="Calibri" pitchFamily="34" charset="-120"/>
              </a:rPr>
              <a:t>Tarpon Springs</a:t>
            </a:r>
            <a:endParaRPr lang="en-US" sz="1300" dirty="0"/>
          </a:p>
        </p:txBody>
      </p:sp>
      <p:sp>
        <p:nvSpPr>
          <p:cNvPr id="22" name="Text 20"/>
          <p:cNvSpPr/>
          <p:nvPr/>
        </p:nvSpPr>
        <p:spPr>
          <a:xfrm>
            <a:off x="960120" y="3977640"/>
            <a:ext cx="4937760" cy="274320"/>
          </a:xfrm>
          <a:prstGeom prst="rect">
            <a:avLst/>
          </a:prstGeom>
          <a:noFill/>
          <a:ln/>
        </p:spPr>
        <p:txBody>
          <a:bodyPr wrap="square" lIns="0" tIns="0" rIns="0" bIns="0" rtlCol="0" anchor="ctr"/>
          <a:lstStyle/>
          <a:p>
            <a:pPr indent="0" marL="0">
              <a:buNone/>
            </a:pPr>
            <a:r>
              <a:rPr lang="en-US" sz="1200" i="1" dirty="0">
                <a:solidFill>
                  <a:srgbClr val="5B5B7A"/>
                </a:solidFill>
                <a:latin typeface="Calibri" pitchFamily="34" charset="0"/>
                <a:ea typeface="Calibri" pitchFamily="34" charset="-122"/>
                <a:cs typeface="Calibri" pitchFamily="34" charset="-120"/>
              </a:rPr>
              <a:t>Partner locations announced as enrollment opens.</a:t>
            </a:r>
            <a:endParaRPr lang="en-US" sz="1200" dirty="0"/>
          </a:p>
        </p:txBody>
      </p:sp>
      <p:sp>
        <p:nvSpPr>
          <p:cNvPr id="23" name="Shape 21"/>
          <p:cNvSpPr/>
          <p:nvPr/>
        </p:nvSpPr>
        <p:spPr>
          <a:xfrm>
            <a:off x="6231636" y="1691640"/>
            <a:ext cx="5317236" cy="2743200"/>
          </a:xfrm>
          <a:prstGeom prst="roundRect">
            <a:avLst>
              <a:gd name="adj" fmla="val 4000"/>
            </a:avLst>
          </a:prstGeom>
          <a:solidFill>
            <a:srgbClr val="241B5E"/>
          </a:solidFill>
          <a:ln w="12700">
            <a:solidFill>
              <a:srgbClr val="241B5E"/>
            </a:solidFill>
            <a:prstDash val="solid"/>
          </a:ln>
        </p:spPr>
      </p:sp>
      <p:sp>
        <p:nvSpPr>
          <p:cNvPr id="24" name="Text 22"/>
          <p:cNvSpPr/>
          <p:nvPr/>
        </p:nvSpPr>
        <p:spPr>
          <a:xfrm>
            <a:off x="6547104" y="1874520"/>
            <a:ext cx="4572000" cy="3200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Getting started</a:t>
            </a:r>
            <a:endParaRPr lang="en-US" sz="1900" dirty="0"/>
          </a:p>
        </p:txBody>
      </p:sp>
      <p:sp>
        <p:nvSpPr>
          <p:cNvPr id="25" name="Shape 23"/>
          <p:cNvSpPr/>
          <p:nvPr/>
        </p:nvSpPr>
        <p:spPr>
          <a:xfrm>
            <a:off x="6547104" y="2304288"/>
            <a:ext cx="329184" cy="329184"/>
          </a:xfrm>
          <a:prstGeom prst="ellipse">
            <a:avLst/>
          </a:prstGeom>
          <a:solidFill>
            <a:srgbClr val="FF7A29"/>
          </a:solidFill>
          <a:ln/>
        </p:spPr>
      </p:sp>
      <p:sp>
        <p:nvSpPr>
          <p:cNvPr id="26" name="Text 24"/>
          <p:cNvSpPr/>
          <p:nvPr/>
        </p:nvSpPr>
        <p:spPr>
          <a:xfrm>
            <a:off x="6547104" y="23042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5"/>
          <p:cNvSpPr/>
          <p:nvPr/>
        </p:nvSpPr>
        <p:spPr>
          <a:xfrm>
            <a:off x="6976872" y="2276856"/>
            <a:ext cx="434340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Intro meeting</a:t>
            </a:r>
            <a:endParaRPr lang="en-US" sz="1300" dirty="0"/>
          </a:p>
        </p:txBody>
      </p:sp>
      <p:sp>
        <p:nvSpPr>
          <p:cNvPr id="28" name="Text 26"/>
          <p:cNvSpPr/>
          <p:nvPr/>
        </p:nvSpPr>
        <p:spPr>
          <a:xfrm>
            <a:off x="6976872" y="2505456"/>
            <a:ext cx="4434840" cy="237744"/>
          </a:xfrm>
          <a:prstGeom prst="rect">
            <a:avLst/>
          </a:prstGeom>
          <a:noFill/>
          <a:ln/>
        </p:spPr>
        <p:txBody>
          <a:bodyPr wrap="square" lIns="0" tIns="0" rIns="0" bIns="0" rtlCol="0" anchor="ctr"/>
          <a:lstStyle/>
          <a:p>
            <a:pPr indent="0" marL="0">
              <a:buNone/>
            </a:pPr>
            <a:r>
              <a:rPr lang="en-US" sz="1100" dirty="0">
                <a:solidFill>
                  <a:srgbClr val="C9CCEA"/>
                </a:solidFill>
                <a:latin typeface="Calibri" pitchFamily="34" charset="0"/>
                <a:ea typeface="Calibri" pitchFamily="34" charset="-122"/>
                <a:cs typeface="Calibri" pitchFamily="34" charset="-120"/>
              </a:rPr>
              <a:t>30 minutes — fit, grade bands, room and schedule</a:t>
            </a:r>
            <a:endParaRPr lang="en-US" sz="1100" dirty="0"/>
          </a:p>
        </p:txBody>
      </p:sp>
      <p:sp>
        <p:nvSpPr>
          <p:cNvPr id="29" name="Shape 27"/>
          <p:cNvSpPr/>
          <p:nvPr/>
        </p:nvSpPr>
        <p:spPr>
          <a:xfrm>
            <a:off x="6547104" y="2816352"/>
            <a:ext cx="329184" cy="329184"/>
          </a:xfrm>
          <a:prstGeom prst="ellipse">
            <a:avLst/>
          </a:prstGeom>
          <a:solidFill>
            <a:srgbClr val="00A8B5"/>
          </a:solidFill>
          <a:ln/>
        </p:spPr>
      </p:sp>
      <p:sp>
        <p:nvSpPr>
          <p:cNvPr id="30" name="Text 28"/>
          <p:cNvSpPr/>
          <p:nvPr/>
        </p:nvSpPr>
        <p:spPr>
          <a:xfrm>
            <a:off x="6547104" y="28163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Text 29"/>
          <p:cNvSpPr/>
          <p:nvPr/>
        </p:nvSpPr>
        <p:spPr>
          <a:xfrm>
            <a:off x="6976872" y="2788920"/>
            <a:ext cx="434340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Partnership agreement</a:t>
            </a:r>
            <a:endParaRPr lang="en-US" sz="1300" dirty="0"/>
          </a:p>
        </p:txBody>
      </p:sp>
      <p:sp>
        <p:nvSpPr>
          <p:cNvPr id="32" name="Text 30"/>
          <p:cNvSpPr/>
          <p:nvPr/>
        </p:nvSpPr>
        <p:spPr>
          <a:xfrm>
            <a:off x="6976872" y="3017520"/>
            <a:ext cx="4434840" cy="237744"/>
          </a:xfrm>
          <a:prstGeom prst="rect">
            <a:avLst/>
          </a:prstGeom>
          <a:noFill/>
          <a:ln/>
        </p:spPr>
        <p:txBody>
          <a:bodyPr wrap="square" lIns="0" tIns="0" rIns="0" bIns="0" rtlCol="0" anchor="ctr"/>
          <a:lstStyle/>
          <a:p>
            <a:pPr indent="0" marL="0">
              <a:buNone/>
            </a:pPr>
            <a:r>
              <a:rPr lang="en-US" sz="1100" dirty="0">
                <a:solidFill>
                  <a:srgbClr val="C9CCEA"/>
                </a:solidFill>
                <a:latin typeface="Calibri" pitchFamily="34" charset="0"/>
                <a:ea typeface="Calibri" pitchFamily="34" charset="-122"/>
                <a:cs typeface="Calibri" pitchFamily="34" charset="-120"/>
              </a:rPr>
              <a:t>Scope, dates, insurance certificates, logistics</a:t>
            </a:r>
            <a:endParaRPr lang="en-US" sz="1100" dirty="0"/>
          </a:p>
        </p:txBody>
      </p:sp>
      <p:sp>
        <p:nvSpPr>
          <p:cNvPr id="33" name="Shape 31"/>
          <p:cNvSpPr/>
          <p:nvPr/>
        </p:nvSpPr>
        <p:spPr>
          <a:xfrm>
            <a:off x="6547104" y="3328416"/>
            <a:ext cx="329184" cy="329184"/>
          </a:xfrm>
          <a:prstGeom prst="ellipse">
            <a:avLst/>
          </a:prstGeom>
          <a:solidFill>
            <a:srgbClr val="FF7A29"/>
          </a:solidFill>
          <a:ln/>
        </p:spPr>
      </p:sp>
      <p:sp>
        <p:nvSpPr>
          <p:cNvPr id="34" name="Text 32"/>
          <p:cNvSpPr/>
          <p:nvPr/>
        </p:nvSpPr>
        <p:spPr>
          <a:xfrm>
            <a:off x="6547104" y="33284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5" name="Text 33"/>
          <p:cNvSpPr/>
          <p:nvPr/>
        </p:nvSpPr>
        <p:spPr>
          <a:xfrm>
            <a:off x="6976872" y="3300984"/>
            <a:ext cx="434340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Family launch</a:t>
            </a:r>
            <a:endParaRPr lang="en-US" sz="1300" dirty="0"/>
          </a:p>
        </p:txBody>
      </p:sp>
      <p:sp>
        <p:nvSpPr>
          <p:cNvPr id="36" name="Text 34"/>
          <p:cNvSpPr/>
          <p:nvPr/>
        </p:nvSpPr>
        <p:spPr>
          <a:xfrm>
            <a:off x="6976872" y="3529584"/>
            <a:ext cx="4434840" cy="237744"/>
          </a:xfrm>
          <a:prstGeom prst="rect">
            <a:avLst/>
          </a:prstGeom>
          <a:noFill/>
          <a:ln/>
        </p:spPr>
        <p:txBody>
          <a:bodyPr wrap="square" lIns="0" tIns="0" rIns="0" bIns="0" rtlCol="0" anchor="ctr"/>
          <a:lstStyle/>
          <a:p>
            <a:pPr indent="0" marL="0">
              <a:buNone/>
            </a:pPr>
            <a:r>
              <a:rPr lang="en-US" sz="1100" dirty="0">
                <a:solidFill>
                  <a:srgbClr val="C9CCEA"/>
                </a:solidFill>
                <a:latin typeface="Calibri" pitchFamily="34" charset="0"/>
                <a:ea typeface="Calibri" pitchFamily="34" charset="-122"/>
                <a:cs typeface="Calibri" pitchFamily="34" charset="-120"/>
              </a:rPr>
              <a:t>Co-branded flyers go home; enrollment opens online</a:t>
            </a:r>
            <a:endParaRPr lang="en-US" sz="1100" dirty="0"/>
          </a:p>
        </p:txBody>
      </p:sp>
      <p:sp>
        <p:nvSpPr>
          <p:cNvPr id="37" name="Shape 35"/>
          <p:cNvSpPr/>
          <p:nvPr/>
        </p:nvSpPr>
        <p:spPr>
          <a:xfrm>
            <a:off x="6547104" y="3840480"/>
            <a:ext cx="329184" cy="329184"/>
          </a:xfrm>
          <a:prstGeom prst="ellipse">
            <a:avLst/>
          </a:prstGeom>
          <a:solidFill>
            <a:srgbClr val="00A8B5"/>
          </a:solidFill>
          <a:ln/>
        </p:spPr>
      </p:sp>
      <p:sp>
        <p:nvSpPr>
          <p:cNvPr id="38" name="Text 36"/>
          <p:cNvSpPr/>
          <p:nvPr/>
        </p:nvSpPr>
        <p:spPr>
          <a:xfrm>
            <a:off x="6547104" y="3840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7"/>
          <p:cNvSpPr/>
          <p:nvPr/>
        </p:nvSpPr>
        <p:spPr>
          <a:xfrm>
            <a:off x="6976872" y="3813048"/>
            <a:ext cx="434340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Cohort begins</a:t>
            </a:r>
            <a:endParaRPr lang="en-US" sz="1300" dirty="0"/>
          </a:p>
        </p:txBody>
      </p:sp>
      <p:sp>
        <p:nvSpPr>
          <p:cNvPr id="40" name="Text 38"/>
          <p:cNvSpPr/>
          <p:nvPr/>
        </p:nvSpPr>
        <p:spPr>
          <a:xfrm>
            <a:off x="6976872" y="4041648"/>
            <a:ext cx="4434840" cy="237744"/>
          </a:xfrm>
          <a:prstGeom prst="rect">
            <a:avLst/>
          </a:prstGeom>
          <a:noFill/>
          <a:ln/>
        </p:spPr>
        <p:txBody>
          <a:bodyPr wrap="square" lIns="0" tIns="0" rIns="0" bIns="0" rtlCol="0" anchor="ctr"/>
          <a:lstStyle/>
          <a:p>
            <a:pPr indent="0" marL="0">
              <a:buNone/>
            </a:pPr>
            <a:r>
              <a:rPr lang="en-US" sz="1100" dirty="0">
                <a:solidFill>
                  <a:srgbClr val="C9CCEA"/>
                </a:solidFill>
                <a:latin typeface="Calibri" pitchFamily="34" charset="0"/>
                <a:ea typeface="Calibri" pitchFamily="34" charset="-122"/>
                <a:cs typeface="Calibri" pitchFamily="34" charset="-120"/>
              </a:rPr>
              <a:t>Six weeks later: showcase night for families</a:t>
            </a:r>
            <a:endParaRPr lang="en-US" sz="1100" dirty="0"/>
          </a:p>
        </p:txBody>
      </p:sp>
      <p:sp>
        <p:nvSpPr>
          <p:cNvPr id="41" name="Shape 39"/>
          <p:cNvSpPr/>
          <p:nvPr/>
        </p:nvSpPr>
        <p:spPr>
          <a:xfrm>
            <a:off x="640080" y="4617720"/>
            <a:ext cx="10908792" cy="1417320"/>
          </a:xfrm>
          <a:prstGeom prst="roundRect">
            <a:avLst>
              <a:gd name="adj" fmla="val 7742"/>
            </a:avLst>
          </a:prstGeom>
          <a:solidFill>
            <a:srgbClr val="F5F6FC"/>
          </a:solidFill>
          <a:ln w="12700">
            <a:solidFill>
              <a:srgbClr val="F5F6FC"/>
            </a:solidFill>
            <a:prstDash val="solid"/>
          </a:ln>
          <a:effectLst>
            <a:outerShdw sx="100000" sy="100000" kx="0" ky="0" algn="bl" rotWithShape="0" blurRad="101600" dist="25400" dir="5400000">
              <a:srgbClr val="B8BCD6">
                <a:alpha val="45000"/>
              </a:srgbClr>
            </a:outerShdw>
          </a:effectLst>
        </p:spPr>
      </p:sp>
      <p:sp>
        <p:nvSpPr>
          <p:cNvPr id="42" name="Text 40"/>
          <p:cNvSpPr/>
          <p:nvPr/>
        </p:nvSpPr>
        <p:spPr>
          <a:xfrm>
            <a:off x="960120" y="4773168"/>
            <a:ext cx="3657600" cy="292608"/>
          </a:xfrm>
          <a:prstGeom prst="rect">
            <a:avLst/>
          </a:prstGeom>
          <a:noFill/>
          <a:ln/>
        </p:spPr>
        <p:txBody>
          <a:bodyPr wrap="square" lIns="0" tIns="0" rIns="0" bIns="0" rtlCol="0" anchor="ctr"/>
          <a:lstStyle/>
          <a:p>
            <a:pPr indent="0" marL="0">
              <a:buNone/>
            </a:pPr>
            <a:r>
              <a:rPr lang="en-US" sz="1700" b="1" dirty="0">
                <a:solidFill>
                  <a:srgbClr val="141438"/>
                </a:solidFill>
                <a:latin typeface="Cambria" pitchFamily="34" charset="0"/>
                <a:ea typeface="Cambria" pitchFamily="34" charset="-122"/>
                <a:cs typeface="Cambria" pitchFamily="34" charset="-120"/>
              </a:rPr>
              <a:t>Lead time we need</a:t>
            </a:r>
            <a:endParaRPr lang="en-US" sz="1700" dirty="0"/>
          </a:p>
        </p:txBody>
      </p:sp>
      <p:sp>
        <p:nvSpPr>
          <p:cNvPr id="43" name="Text 41"/>
          <p:cNvSpPr/>
          <p:nvPr/>
        </p:nvSpPr>
        <p:spPr>
          <a:xfrm>
            <a:off x="960120" y="5120640"/>
            <a:ext cx="10241280" cy="822960"/>
          </a:xfrm>
          <a:prstGeom prst="rect">
            <a:avLst/>
          </a:prstGeom>
          <a:noFill/>
          <a:ln/>
        </p:spPr>
        <p:txBody>
          <a:bodyPr wrap="square" lIns="0" tIns="0" rIns="0" bIns="0" rtlCol="0" anchor="ctr"/>
          <a:lstStyle/>
          <a:p>
            <a:pPr indent="0" marL="0">
              <a:lnSpc>
                <a:spcPts val="1800"/>
              </a:lnSpc>
              <a:buNone/>
            </a:pPr>
            <a:r>
              <a:rPr lang="en-US" sz="1300" dirty="0">
                <a:solidFill>
                  <a:srgbClr val="5B5B7A"/>
                </a:solidFill>
                <a:latin typeface="Calibri" pitchFamily="34" charset="0"/>
                <a:ea typeface="Calibri" pitchFamily="34" charset="-122"/>
                <a:cs typeface="Calibri" pitchFamily="34" charset="-120"/>
              </a:rPr>
              <a:t>Roughly eight weeks between a signed agreement and the first class — enough to staff instructors, print co-branded materials, run family enrollment, and reach a workable class size. Earlier conversations mean better placement in the fall schedule.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1B5E"/>
        </a:solidFill>
      </p:bgPr>
    </p:bg>
    <p:spTree>
      <p:nvGrpSpPr>
        <p:cNvPr id="1" name=""/>
        <p:cNvGrpSpPr/>
        <p:nvPr/>
      </p:nvGrpSpPr>
      <p:grpSpPr>
        <a:xfrm>
          <a:off x="0" y="0"/>
          <a:ext cx="0" cy="0"/>
          <a:chOff x="0" y="0"/>
          <a:chExt cx="0" cy="0"/>
        </a:xfrm>
      </p:grpSpPr>
      <p:sp>
        <p:nvSpPr>
          <p:cNvPr id="2" name="Shape 0"/>
          <p:cNvSpPr/>
          <p:nvPr/>
        </p:nvSpPr>
        <p:spPr>
          <a:xfrm>
            <a:off x="-3931920" y="5806440"/>
            <a:ext cx="5120640" cy="5120640"/>
          </a:xfrm>
          <a:prstGeom prst="ellipse">
            <a:avLst/>
          </a:prstGeom>
          <a:solidFill>
            <a:srgbClr val="3B2E8F"/>
          </a:solidFill>
          <a:ln/>
        </p:spPr>
      </p:sp>
      <p:sp>
        <p:nvSpPr>
          <p:cNvPr id="3" name="Shape 1"/>
          <p:cNvSpPr/>
          <p:nvPr/>
        </p:nvSpPr>
        <p:spPr>
          <a:xfrm>
            <a:off x="9966960" y="-1280160"/>
            <a:ext cx="4023360" cy="4023360"/>
          </a:xfrm>
          <a:prstGeom prst="ellipse">
            <a:avLst/>
          </a:prstGeom>
          <a:solidFill>
            <a:srgbClr val="00A8B5"/>
          </a:solidFill>
          <a:ln/>
        </p:spPr>
      </p:sp>
      <p:sp>
        <p:nvSpPr>
          <p:cNvPr id="4" name="Text 2"/>
          <p:cNvSpPr/>
          <p:nvPr/>
        </p:nvSpPr>
        <p:spPr>
          <a:xfrm>
            <a:off x="777240" y="1234440"/>
            <a:ext cx="8229600" cy="292608"/>
          </a:xfrm>
          <a:prstGeom prst="rect">
            <a:avLst/>
          </a:prstGeom>
          <a:noFill/>
          <a:ln/>
        </p:spPr>
        <p:txBody>
          <a:bodyPr wrap="square" lIns="0" tIns="0" rIns="0" bIns="0" rtlCol="0" anchor="ctr"/>
          <a:lstStyle/>
          <a:p>
            <a:pPr indent="0" marL="0">
              <a:buNone/>
            </a:pPr>
            <a:r>
              <a:rPr lang="en-US" sz="1300" b="1" spc="300" kern="0" dirty="0">
                <a:solidFill>
                  <a:srgbClr val="00A8B5"/>
                </a:solidFill>
                <a:latin typeface="Calibri" pitchFamily="34" charset="0"/>
                <a:ea typeface="Calibri" pitchFamily="34" charset="-122"/>
                <a:cs typeface="Calibri" pitchFamily="34" charset="-120"/>
              </a:rPr>
              <a:t>LET’S BUILD THE FUTURE TOGETHER</a:t>
            </a:r>
            <a:endParaRPr lang="en-US" sz="1300" dirty="0"/>
          </a:p>
        </p:txBody>
      </p:sp>
      <p:sp>
        <p:nvSpPr>
          <p:cNvPr id="5" name="Text 3"/>
          <p:cNvSpPr/>
          <p:nvPr/>
        </p:nvSpPr>
        <p:spPr>
          <a:xfrm>
            <a:off x="731520" y="1627632"/>
            <a:ext cx="8686800" cy="173736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Bring AI Builders</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Academy to your school</a:t>
            </a:r>
            <a:endParaRPr lang="en-US" sz="4400" dirty="0"/>
          </a:p>
        </p:txBody>
      </p:sp>
      <p:sp>
        <p:nvSpPr>
          <p:cNvPr id="6" name="Text 4"/>
          <p:cNvSpPr/>
          <p:nvPr/>
        </p:nvSpPr>
        <p:spPr>
          <a:xfrm>
            <a:off x="777240" y="3474720"/>
            <a:ext cx="6949440" cy="914400"/>
          </a:xfrm>
          <a:prstGeom prst="rect">
            <a:avLst/>
          </a:prstGeom>
          <a:noFill/>
          <a:ln/>
        </p:spPr>
        <p:txBody>
          <a:bodyPr wrap="square" lIns="0" tIns="0" rIns="0" bIns="0" rtlCol="0" anchor="ctr"/>
          <a:lstStyle/>
          <a:p>
            <a:pPr indent="0" marL="0">
              <a:lnSpc>
                <a:spcPts val="2200"/>
              </a:lnSpc>
              <a:buNone/>
            </a:pPr>
            <a:r>
              <a:rPr lang="en-US" sz="1500" dirty="0">
                <a:solidFill>
                  <a:srgbClr val="C9CCEA"/>
                </a:solidFill>
                <a:latin typeface="Calibri" pitchFamily="34" charset="0"/>
                <a:ea typeface="Calibri" pitchFamily="34" charset="-122"/>
                <a:cs typeface="Calibri" pitchFamily="34" charset="-120"/>
              </a:rPr>
              <a:t>The next step is a thirty-minute conversation. We will walk your team through the curriculum, answer questions about insurance and staffing, and see whether a fall cohort fits your calendar.</a:t>
            </a:r>
            <a:endParaRPr lang="en-US" sz="1500" dirty="0"/>
          </a:p>
        </p:txBody>
      </p:sp>
      <p:sp>
        <p:nvSpPr>
          <p:cNvPr id="7" name="Shape 5"/>
          <p:cNvSpPr/>
          <p:nvPr/>
        </p:nvSpPr>
        <p:spPr>
          <a:xfrm>
            <a:off x="777240" y="4526280"/>
            <a:ext cx="402336" cy="402336"/>
          </a:xfrm>
          <a:prstGeom prst="ellipse">
            <a:avLst/>
          </a:prstGeom>
          <a:solidFill>
            <a:srgbClr val="FF7A29"/>
          </a:solidFill>
          <a:ln/>
        </p:spPr>
      </p:sp>
      <p:pic>
        <p:nvPicPr>
          <p:cNvPr id="8" name="Image 0" descr="preencoded.png">    </p:cNvPr>
          <p:cNvPicPr>
            <a:picLocks noChangeAspect="1"/>
          </p:cNvPicPr>
          <p:nvPr/>
        </p:nvPicPr>
        <p:blipFill>
          <a:blip r:embed="rId1"/>
          <a:stretch>
            <a:fillRect/>
          </a:stretch>
        </p:blipFill>
        <p:spPr>
          <a:xfrm>
            <a:off x="881847" y="4630887"/>
            <a:ext cx="193121" cy="193121"/>
          </a:xfrm>
          <a:prstGeom prst="rect">
            <a:avLst/>
          </a:prstGeom>
        </p:spPr>
      </p:pic>
      <p:sp>
        <p:nvSpPr>
          <p:cNvPr id="9" name="Text 6"/>
          <p:cNvSpPr/>
          <p:nvPr/>
        </p:nvSpPr>
        <p:spPr>
          <a:xfrm>
            <a:off x="1353312" y="4553712"/>
            <a:ext cx="64008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808-652-2090</a:t>
            </a:r>
            <a:endParaRPr lang="en-US" sz="1500" dirty="0"/>
          </a:p>
        </p:txBody>
      </p:sp>
      <p:sp>
        <p:nvSpPr>
          <p:cNvPr id="10" name="Shape 7"/>
          <p:cNvSpPr/>
          <p:nvPr/>
        </p:nvSpPr>
        <p:spPr>
          <a:xfrm>
            <a:off x="777240" y="5074920"/>
            <a:ext cx="402336" cy="402336"/>
          </a:xfrm>
          <a:prstGeom prst="ellipse">
            <a:avLst/>
          </a:prstGeom>
          <a:solidFill>
            <a:srgbClr val="00A8B5"/>
          </a:solidFill>
          <a:ln/>
        </p:spPr>
      </p:sp>
      <p:pic>
        <p:nvPicPr>
          <p:cNvPr id="11" name="Image 1" descr="preencoded.png">    </p:cNvPr>
          <p:cNvPicPr>
            <a:picLocks noChangeAspect="1"/>
          </p:cNvPicPr>
          <p:nvPr/>
        </p:nvPicPr>
        <p:blipFill>
          <a:blip r:embed="rId2"/>
          <a:stretch>
            <a:fillRect/>
          </a:stretch>
        </p:blipFill>
        <p:spPr>
          <a:xfrm>
            <a:off x="881847" y="5179527"/>
            <a:ext cx="193121" cy="193121"/>
          </a:xfrm>
          <a:prstGeom prst="rect">
            <a:avLst/>
          </a:prstGeom>
        </p:spPr>
      </p:pic>
      <p:sp>
        <p:nvSpPr>
          <p:cNvPr id="12" name="Text 8"/>
          <p:cNvSpPr/>
          <p:nvPr/>
        </p:nvSpPr>
        <p:spPr>
          <a:xfrm>
            <a:off x="1353312" y="5102352"/>
            <a:ext cx="64008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danielle@humanityplusai.org</a:t>
            </a:r>
            <a:endParaRPr lang="en-US" sz="1500" dirty="0"/>
          </a:p>
        </p:txBody>
      </p:sp>
      <p:sp>
        <p:nvSpPr>
          <p:cNvPr id="13" name="Shape 9"/>
          <p:cNvSpPr/>
          <p:nvPr/>
        </p:nvSpPr>
        <p:spPr>
          <a:xfrm>
            <a:off x="777240" y="5623560"/>
            <a:ext cx="402336" cy="402336"/>
          </a:xfrm>
          <a:prstGeom prst="ellipse">
            <a:avLst/>
          </a:prstGeom>
          <a:solidFill>
            <a:srgbClr val="FF7A29"/>
          </a:solidFill>
          <a:ln/>
        </p:spPr>
      </p:sp>
      <p:pic>
        <p:nvPicPr>
          <p:cNvPr id="14" name="Image 2" descr="preencoded.png">    </p:cNvPr>
          <p:cNvPicPr>
            <a:picLocks noChangeAspect="1"/>
          </p:cNvPicPr>
          <p:nvPr/>
        </p:nvPicPr>
        <p:blipFill>
          <a:blip r:embed="rId3"/>
          <a:stretch>
            <a:fillRect/>
          </a:stretch>
        </p:blipFill>
        <p:spPr>
          <a:xfrm>
            <a:off x="881847" y="5728167"/>
            <a:ext cx="193121" cy="193121"/>
          </a:xfrm>
          <a:prstGeom prst="rect">
            <a:avLst/>
          </a:prstGeom>
        </p:spPr>
      </p:pic>
      <p:sp>
        <p:nvSpPr>
          <p:cNvPr id="15" name="Text 10"/>
          <p:cNvSpPr/>
          <p:nvPr/>
        </p:nvSpPr>
        <p:spPr>
          <a:xfrm>
            <a:off x="1353312" y="5650992"/>
            <a:ext cx="64008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humanityplusai.org/aiforkids/schools</a:t>
            </a:r>
            <a:endParaRPr lang="en-US" sz="1500" dirty="0"/>
          </a:p>
        </p:txBody>
      </p:sp>
      <p:sp>
        <p:nvSpPr>
          <p:cNvPr id="16" name="Text 11"/>
          <p:cNvSpPr/>
          <p:nvPr/>
        </p:nvSpPr>
        <p:spPr>
          <a:xfrm>
            <a:off x="8138160" y="5623560"/>
            <a:ext cx="3566160" cy="640080"/>
          </a:xfrm>
          <a:prstGeom prst="rect">
            <a:avLst/>
          </a:prstGeom>
          <a:noFill/>
          <a:ln/>
        </p:spPr>
        <p:txBody>
          <a:bodyPr wrap="square" lIns="0" tIns="0" rIns="0" bIns="0" rtlCol="0" anchor="ctr"/>
          <a:lstStyle/>
          <a:p>
            <a:pPr algn="r" indent="0" marL="0">
              <a:lnSpc>
                <a:spcPts val="1400"/>
              </a:lnSpc>
              <a:buNone/>
            </a:pPr>
            <a:r>
              <a:rPr lang="en-US" sz="1050" dirty="0">
                <a:solidFill>
                  <a:srgbClr val="9AA0C8"/>
                </a:solidFill>
                <a:latin typeface="Calibri" pitchFamily="34" charset="0"/>
                <a:ea typeface="Calibri" pitchFamily="34" charset="-122"/>
                <a:cs typeface="Calibri" pitchFamily="34" charset="-120"/>
              </a:rPr>
              <a:t>Humanity + AI, Inc. — a 501(c)(3) nonprofit organization advancing AI education,</a:t>
            </a:r>
            <a:endParaRPr lang="en-US" sz="1050" dirty="0"/>
          </a:p>
          <a:p>
            <a:pPr algn="r" indent="0" marL="0">
              <a:lnSpc>
                <a:spcPts val="1400"/>
              </a:lnSpc>
              <a:buNone/>
            </a:pPr>
            <a:r>
              <a:rPr lang="en-US" sz="1050" dirty="0">
                <a:solidFill>
                  <a:srgbClr val="9AA0C8"/>
                </a:solidFill>
                <a:latin typeface="Calibri" pitchFamily="34" charset="0"/>
                <a:ea typeface="Calibri" pitchFamily="34" charset="-122"/>
                <a:cs typeface="Calibri" pitchFamily="34" charset="-120"/>
              </a:rPr>
              <a:t>innovation, and responsible development.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2026-08-04T21:36:41Z</dcterms:created>
  <dcterms:modified xsi:type="dcterms:W3CDTF">2026-08-04T21:36:41Z</dcterms:modified>
</cp:coreProperties>
</file>